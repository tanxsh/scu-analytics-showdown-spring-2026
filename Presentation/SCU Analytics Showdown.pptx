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</p:sldIdLst>
  <p:sldSz cx="18288000" cy="10287000"/>
  <p:notesSz cx="6858000" cy="9144000"/>
  <p:embeddedFontLst>
    <p:embeddedFont>
      <p:font typeface="Francois One" panose="02000503040000020004" pitchFamily="2" charset="77"/>
      <p:regular r:id="rId44"/>
    </p:embeddedFon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Lato Black" panose="020F0502020204030203" pitchFamily="34" charset="0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30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f7c9c77b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df7c9c77b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f7c9c77b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df7c9c77b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f7c9c77b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df7c9c77b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f7c9c77bc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df7c9c77bc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f7c9c77bc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df7c9c77bc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f7c9c77bc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df7c9c77bc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f7c9c77bc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df7c9c77bc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f7c9c77bc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df7c9c77bc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f7c9c77bc_1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df7c9c77bc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f7c9c77bc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df7c9c77bc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f7c9c77bc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df7c9c77bc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f7c9c77bc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df7c9c77bc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f7c9c77bc_1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df7c9c77bc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f7c9c77bc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df7c9c77bc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f7c9c77bc_1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df7c9c77bc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f7c9c77bc_1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df7c9c77bc_1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f7c9c77bc_1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df7c9c77bc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f7c9c77bc_1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f7c9c77bc_1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f7c9c77bc_1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df7c9c77bc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f7c9c77bc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df7c9c77bc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f7c9c77bc_1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3df7c9c77bc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f7c9c77bc_1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df7c9c77bc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f7c9c77bc_1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df7c9c77bc_1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f7c9c77bc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3df7c9c77bc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f7c9c77bc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df7c9c77bc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f7c9c77bc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3df7c9c77bc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f7c9c77bc_1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3df7c9c77bc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f7c9c77bc_1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df7c9c77bc_1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86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 amt="19999"/>
          </a:blip>
          <a:srcRect/>
          <a:stretch/>
        </p:blipFill>
        <p:spPr>
          <a:xfrm rot="-717305">
            <a:off x="11479367" y="-2709009"/>
            <a:ext cx="10950670" cy="1000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t="28947" b="18434"/>
          <a:stretch/>
        </p:blipFill>
        <p:spPr>
          <a:xfrm>
            <a:off x="3362418" y="4383442"/>
            <a:ext cx="13896882" cy="48748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3"/>
          <p:cNvGrpSpPr/>
          <p:nvPr/>
        </p:nvGrpSpPr>
        <p:grpSpPr>
          <a:xfrm>
            <a:off x="804600" y="-1194749"/>
            <a:ext cx="8531126" cy="7238659"/>
            <a:chOff x="0" y="-47625"/>
            <a:chExt cx="1615866" cy="1371062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1615866" cy="1323437"/>
            </a:xfrm>
            <a:custGeom>
              <a:avLst/>
              <a:gdLst/>
              <a:ahLst/>
              <a:cxnLst/>
              <a:rect l="l" t="t" r="r" b="b"/>
              <a:pathLst>
                <a:path w="1615866" h="1323437" extrusionOk="0">
                  <a:moveTo>
                    <a:pt x="49681" y="0"/>
                  </a:moveTo>
                  <a:lnTo>
                    <a:pt x="1566185" y="0"/>
                  </a:lnTo>
                  <a:cubicBezTo>
                    <a:pt x="1593623" y="0"/>
                    <a:pt x="1615866" y="22243"/>
                    <a:pt x="1615866" y="49681"/>
                  </a:cubicBezTo>
                  <a:lnTo>
                    <a:pt x="1615866" y="1273756"/>
                  </a:lnTo>
                  <a:cubicBezTo>
                    <a:pt x="1615866" y="1301194"/>
                    <a:pt x="1593623" y="1323437"/>
                    <a:pt x="1566185" y="1323437"/>
                  </a:cubicBezTo>
                  <a:lnTo>
                    <a:pt x="49681" y="1323437"/>
                  </a:lnTo>
                  <a:cubicBezTo>
                    <a:pt x="22243" y="1323437"/>
                    <a:pt x="0" y="1301194"/>
                    <a:pt x="0" y="1273756"/>
                  </a:cubicBezTo>
                  <a:lnTo>
                    <a:pt x="0" y="49681"/>
                  </a:lnTo>
                  <a:cubicBezTo>
                    <a:pt x="0" y="22243"/>
                    <a:pt x="22243" y="0"/>
                    <a:pt x="49681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8125" tIns="98125" rIns="98125" bIns="981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50" tIns="54550" rIns="54550" bIns="5455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3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10561762" y="9438840"/>
            <a:ext cx="669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Group 9 : Tanish</a:t>
            </a:r>
            <a:endParaRPr sz="11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204325" y="223000"/>
            <a:ext cx="79620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9EDD6C"/>
                </a:solidFill>
                <a:latin typeface="Francois One"/>
                <a:ea typeface="Francois One"/>
                <a:cs typeface="Francois One"/>
                <a:sym typeface="Francois One"/>
              </a:rPr>
              <a:t>Roots &amp; Returns</a:t>
            </a:r>
            <a:r>
              <a:rPr lang="en-US" sz="8000">
                <a:solidFill>
                  <a:srgbClr val="9EDD6C"/>
                </a:solidFill>
                <a:latin typeface="Francois One"/>
                <a:ea typeface="Francois One"/>
                <a:cs typeface="Francois One"/>
                <a:sym typeface="Francois One"/>
              </a:rPr>
              <a:t> </a:t>
            </a:r>
            <a:endParaRPr sz="5000">
              <a:solidFill>
                <a:srgbClr val="9EDD6C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Francois One"/>
                <a:ea typeface="Francois One"/>
                <a:cs typeface="Francois One"/>
                <a:sym typeface="Francois One"/>
              </a:rPr>
              <a:t>SCU Analytics Showdown</a:t>
            </a:r>
            <a:endParaRPr sz="45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4963" y="3429000"/>
            <a:ext cx="4070400" cy="21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l="13336" r="10209" b="2399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106593" y="1271888"/>
            <a:ext cx="14074800" cy="38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5254</a:t>
            </a:r>
            <a:endParaRPr sz="25000" b="1" dirty="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741618" y="5218182"/>
            <a:ext cx="12804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57A7A-49F1-D0DE-B9E9-4FDA5A57F049}"/>
              </a:ext>
            </a:extLst>
          </p:cNvPr>
          <p:cNvSpPr txBox="1"/>
          <p:nvPr/>
        </p:nvSpPr>
        <p:spPr>
          <a:xfrm>
            <a:off x="3914274" y="4892842"/>
            <a:ext cx="10074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FARMERS DID NOT SELL BACK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-2782162" y="1623736"/>
            <a:ext cx="10116962" cy="924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04609" y="4450798"/>
            <a:ext cx="6972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The Challenge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108" y="4907652"/>
            <a:ext cx="6867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500">
              <a:solidFill>
                <a:srgbClr val="9EDD6C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grpSp>
        <p:nvGrpSpPr>
          <p:cNvPr id="106" name="Google Shape;106;p15"/>
          <p:cNvGrpSpPr/>
          <p:nvPr/>
        </p:nvGrpSpPr>
        <p:grpSpPr>
          <a:xfrm>
            <a:off x="9660692" y="197143"/>
            <a:ext cx="7430313" cy="3266928"/>
            <a:chOff x="0" y="-47625"/>
            <a:chExt cx="1956955" cy="860425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1956955" cy="755632"/>
            </a:xfrm>
            <a:custGeom>
              <a:avLst/>
              <a:gdLst/>
              <a:ahLst/>
              <a:cxnLst/>
              <a:rect l="l" t="t" r="r" b="b"/>
              <a:pathLst>
                <a:path w="1956955" h="755632" extrusionOk="0">
                  <a:moveTo>
                    <a:pt x="53139" y="0"/>
                  </a:moveTo>
                  <a:lnTo>
                    <a:pt x="1903816" y="0"/>
                  </a:lnTo>
                  <a:cubicBezTo>
                    <a:pt x="1933164" y="0"/>
                    <a:pt x="1956955" y="23791"/>
                    <a:pt x="1956955" y="53139"/>
                  </a:cubicBezTo>
                  <a:lnTo>
                    <a:pt x="1956955" y="702494"/>
                  </a:lnTo>
                  <a:cubicBezTo>
                    <a:pt x="1956955" y="731841"/>
                    <a:pt x="1933164" y="755632"/>
                    <a:pt x="1903816" y="755632"/>
                  </a:cubicBezTo>
                  <a:lnTo>
                    <a:pt x="53139" y="755632"/>
                  </a:lnTo>
                  <a:cubicBezTo>
                    <a:pt x="23791" y="755632"/>
                    <a:pt x="0" y="731841"/>
                    <a:pt x="0" y="702494"/>
                  </a:cubicBezTo>
                  <a:lnTo>
                    <a:pt x="0" y="53139"/>
                  </a:lnTo>
                  <a:cubicBezTo>
                    <a:pt x="0" y="23791"/>
                    <a:pt x="23791" y="0"/>
                    <a:pt x="53139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10807825" y="1466200"/>
            <a:ext cx="5785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Develop a model to predict expected farmer yield and identify the most significant predictors </a:t>
            </a:r>
            <a:endParaRPr sz="3100">
              <a:solidFill>
                <a:srgbClr val="33643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9660692" y="3528153"/>
            <a:ext cx="7430313" cy="3266928"/>
            <a:chOff x="0" y="-47625"/>
            <a:chExt cx="1956955" cy="860425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1956955" cy="755632"/>
            </a:xfrm>
            <a:custGeom>
              <a:avLst/>
              <a:gdLst/>
              <a:ahLst/>
              <a:cxnLst/>
              <a:rect l="l" t="t" r="r" b="b"/>
              <a:pathLst>
                <a:path w="1956955" h="755632" extrusionOk="0">
                  <a:moveTo>
                    <a:pt x="53139" y="0"/>
                  </a:moveTo>
                  <a:lnTo>
                    <a:pt x="1903816" y="0"/>
                  </a:lnTo>
                  <a:cubicBezTo>
                    <a:pt x="1933164" y="0"/>
                    <a:pt x="1956955" y="23791"/>
                    <a:pt x="1956955" y="53139"/>
                  </a:cubicBezTo>
                  <a:lnTo>
                    <a:pt x="1956955" y="702494"/>
                  </a:lnTo>
                  <a:cubicBezTo>
                    <a:pt x="1956955" y="731841"/>
                    <a:pt x="1933164" y="755632"/>
                    <a:pt x="1903816" y="755632"/>
                  </a:cubicBezTo>
                  <a:lnTo>
                    <a:pt x="53139" y="755632"/>
                  </a:lnTo>
                  <a:cubicBezTo>
                    <a:pt x="23791" y="755632"/>
                    <a:pt x="0" y="731841"/>
                    <a:pt x="0" y="702494"/>
                  </a:cubicBezTo>
                  <a:lnTo>
                    <a:pt x="0" y="53139"/>
                  </a:lnTo>
                  <a:cubicBezTo>
                    <a:pt x="0" y="23791"/>
                    <a:pt x="23791" y="0"/>
                    <a:pt x="53139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5"/>
          <p:cNvSpPr txBox="1"/>
          <p:nvPr/>
        </p:nvSpPr>
        <p:spPr>
          <a:xfrm>
            <a:off x="11385778" y="4492625"/>
            <a:ext cx="353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15"/>
          <p:cNvGrpSpPr/>
          <p:nvPr/>
        </p:nvGrpSpPr>
        <p:grpSpPr>
          <a:xfrm>
            <a:off x="9660692" y="6859163"/>
            <a:ext cx="7430313" cy="3266928"/>
            <a:chOff x="0" y="-47625"/>
            <a:chExt cx="1956955" cy="860425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1956955" cy="755632"/>
            </a:xfrm>
            <a:custGeom>
              <a:avLst/>
              <a:gdLst/>
              <a:ahLst/>
              <a:cxnLst/>
              <a:rect l="l" t="t" r="r" b="b"/>
              <a:pathLst>
                <a:path w="1956955" h="755632" extrusionOk="0">
                  <a:moveTo>
                    <a:pt x="53139" y="0"/>
                  </a:moveTo>
                  <a:lnTo>
                    <a:pt x="1903816" y="0"/>
                  </a:lnTo>
                  <a:cubicBezTo>
                    <a:pt x="1933164" y="0"/>
                    <a:pt x="1956955" y="23791"/>
                    <a:pt x="1956955" y="53139"/>
                  </a:cubicBezTo>
                  <a:lnTo>
                    <a:pt x="1956955" y="702494"/>
                  </a:lnTo>
                  <a:cubicBezTo>
                    <a:pt x="1956955" y="731841"/>
                    <a:pt x="1933164" y="755632"/>
                    <a:pt x="1903816" y="755632"/>
                  </a:cubicBezTo>
                  <a:lnTo>
                    <a:pt x="53139" y="755632"/>
                  </a:lnTo>
                  <a:cubicBezTo>
                    <a:pt x="23791" y="755632"/>
                    <a:pt x="0" y="731841"/>
                    <a:pt x="0" y="702494"/>
                  </a:cubicBezTo>
                  <a:lnTo>
                    <a:pt x="0" y="53139"/>
                  </a:lnTo>
                  <a:cubicBezTo>
                    <a:pt x="0" y="23791"/>
                    <a:pt x="23791" y="0"/>
                    <a:pt x="53139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8639961" y="787183"/>
            <a:ext cx="2041464" cy="2050615"/>
            <a:chOff x="3165" y="0"/>
            <a:chExt cx="998653" cy="1003129"/>
          </a:xfrm>
        </p:grpSpPr>
        <p:sp>
          <p:nvSpPr>
            <p:cNvPr id="118" name="Google Shape;118;p15"/>
            <p:cNvSpPr/>
            <p:nvPr/>
          </p:nvSpPr>
          <p:spPr>
            <a:xfrm>
              <a:off x="3165" y="0"/>
              <a:ext cx="998653" cy="1003129"/>
            </a:xfrm>
            <a:custGeom>
              <a:avLst/>
              <a:gdLst/>
              <a:ahLst/>
              <a:cxnLst/>
              <a:rect l="l" t="t" r="r" b="b"/>
              <a:pathLst>
                <a:path w="998653" h="1003129" extrusionOk="0">
                  <a:moveTo>
                    <a:pt x="499326" y="0"/>
                  </a:moveTo>
                  <a:cubicBezTo>
                    <a:pt x="775457" y="1235"/>
                    <a:pt x="998653" y="225431"/>
                    <a:pt x="998653" y="501565"/>
                  </a:cubicBezTo>
                  <a:cubicBezTo>
                    <a:pt x="998653" y="777698"/>
                    <a:pt x="775457" y="1001894"/>
                    <a:pt x="499326" y="1003129"/>
                  </a:cubicBezTo>
                  <a:cubicBezTo>
                    <a:pt x="223195" y="1001894"/>
                    <a:pt x="0" y="777698"/>
                    <a:pt x="0" y="501565"/>
                  </a:cubicBezTo>
                  <a:cubicBezTo>
                    <a:pt x="0" y="225431"/>
                    <a:pt x="223195" y="1235"/>
                    <a:pt x="49932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98877" y="175464"/>
              <a:ext cx="807223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EDECEC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1</a:t>
              </a:r>
              <a:endParaRPr/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8639961" y="4118193"/>
            <a:ext cx="2041464" cy="2050615"/>
            <a:chOff x="3165" y="0"/>
            <a:chExt cx="998653" cy="1003129"/>
          </a:xfrm>
        </p:grpSpPr>
        <p:sp>
          <p:nvSpPr>
            <p:cNvPr id="121" name="Google Shape;121;p15"/>
            <p:cNvSpPr/>
            <p:nvPr/>
          </p:nvSpPr>
          <p:spPr>
            <a:xfrm>
              <a:off x="3165" y="0"/>
              <a:ext cx="998653" cy="1003129"/>
            </a:xfrm>
            <a:custGeom>
              <a:avLst/>
              <a:gdLst/>
              <a:ahLst/>
              <a:cxnLst/>
              <a:rect l="l" t="t" r="r" b="b"/>
              <a:pathLst>
                <a:path w="998653" h="1003129" extrusionOk="0">
                  <a:moveTo>
                    <a:pt x="499326" y="0"/>
                  </a:moveTo>
                  <a:cubicBezTo>
                    <a:pt x="775457" y="1235"/>
                    <a:pt x="998653" y="225431"/>
                    <a:pt x="998653" y="501565"/>
                  </a:cubicBezTo>
                  <a:cubicBezTo>
                    <a:pt x="998653" y="777698"/>
                    <a:pt x="775457" y="1001894"/>
                    <a:pt x="499326" y="1003129"/>
                  </a:cubicBezTo>
                  <a:cubicBezTo>
                    <a:pt x="223195" y="1001894"/>
                    <a:pt x="0" y="777698"/>
                    <a:pt x="0" y="501565"/>
                  </a:cubicBezTo>
                  <a:cubicBezTo>
                    <a:pt x="0" y="225431"/>
                    <a:pt x="223195" y="1235"/>
                    <a:pt x="49932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98878" y="167097"/>
              <a:ext cx="807223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EDECEC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   2</a:t>
              </a:r>
              <a:endParaRPr/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8639961" y="7449202"/>
            <a:ext cx="2041464" cy="2050615"/>
            <a:chOff x="3165" y="0"/>
            <a:chExt cx="998653" cy="1003129"/>
          </a:xfrm>
        </p:grpSpPr>
        <p:sp>
          <p:nvSpPr>
            <p:cNvPr id="124" name="Google Shape;124;p15"/>
            <p:cNvSpPr/>
            <p:nvPr/>
          </p:nvSpPr>
          <p:spPr>
            <a:xfrm>
              <a:off x="3165" y="0"/>
              <a:ext cx="998653" cy="1003129"/>
            </a:xfrm>
            <a:custGeom>
              <a:avLst/>
              <a:gdLst/>
              <a:ahLst/>
              <a:cxnLst/>
              <a:rect l="l" t="t" r="r" b="b"/>
              <a:pathLst>
                <a:path w="998653" h="1003129" extrusionOk="0">
                  <a:moveTo>
                    <a:pt x="499326" y="0"/>
                  </a:moveTo>
                  <a:cubicBezTo>
                    <a:pt x="775457" y="1235"/>
                    <a:pt x="998653" y="225431"/>
                    <a:pt x="998653" y="501565"/>
                  </a:cubicBezTo>
                  <a:cubicBezTo>
                    <a:pt x="998653" y="777698"/>
                    <a:pt x="775457" y="1001894"/>
                    <a:pt x="499326" y="1003129"/>
                  </a:cubicBezTo>
                  <a:cubicBezTo>
                    <a:pt x="223195" y="1001894"/>
                    <a:pt x="0" y="777698"/>
                    <a:pt x="0" y="501565"/>
                  </a:cubicBezTo>
                  <a:cubicBezTo>
                    <a:pt x="0" y="225431"/>
                    <a:pt x="223195" y="1235"/>
                    <a:pt x="49932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98879" y="166602"/>
              <a:ext cx="807223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EDECEC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3</a:t>
              </a:r>
              <a:endParaRPr/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10473025" y="613900"/>
            <a:ext cx="61200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336430"/>
                </a:solidFill>
                <a:latin typeface="Lato Black"/>
                <a:ea typeface="Lato Black"/>
                <a:cs typeface="Lato Black"/>
                <a:sym typeface="Lato Black"/>
              </a:rPr>
              <a:t>Predictive  Model</a:t>
            </a:r>
            <a:endParaRPr sz="5000">
              <a:solidFill>
                <a:srgbClr val="33643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807825" y="4708025"/>
            <a:ext cx="5785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Identify the components of the loan package that are most strongly associated with improved yield</a:t>
            </a:r>
            <a:endParaRPr sz="4800">
              <a:solidFill>
                <a:srgbClr val="3364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0473025" y="3823025"/>
            <a:ext cx="61200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>
                <a:solidFill>
                  <a:srgbClr val="336430"/>
                </a:solidFill>
                <a:latin typeface="Lato Black"/>
                <a:ea typeface="Lato Black"/>
                <a:cs typeface="Lato Black"/>
                <a:sym typeface="Lato Black"/>
              </a:rPr>
              <a:t>Input  Effectiveness</a:t>
            </a:r>
            <a:endParaRPr sz="5000">
              <a:solidFill>
                <a:srgbClr val="33643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807825" y="8258450"/>
            <a:ext cx="5785200" cy="8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Can high risk farmers be segmented and flagged early in the season</a:t>
            </a:r>
            <a:endParaRPr sz="4800">
              <a:solidFill>
                <a:srgbClr val="3364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0640425" y="7230575"/>
            <a:ext cx="61200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>
                <a:solidFill>
                  <a:srgbClr val="336430"/>
                </a:solidFill>
                <a:latin typeface="Lato Black"/>
                <a:ea typeface="Lato Black"/>
                <a:cs typeface="Lato Black"/>
                <a:sym typeface="Lato Black"/>
              </a:rPr>
              <a:t>Risk Identification</a:t>
            </a:r>
            <a:endParaRPr sz="5000">
              <a:solidFill>
                <a:srgbClr val="33643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 amt="19999"/>
          </a:blip>
          <a:srcRect/>
          <a:stretch/>
        </p:blipFill>
        <p:spPr>
          <a:xfrm rot="-2256096">
            <a:off x="11289801" y="1734647"/>
            <a:ext cx="10051202" cy="91842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16"/>
          <p:cNvGrpSpPr/>
          <p:nvPr/>
        </p:nvGrpSpPr>
        <p:grpSpPr>
          <a:xfrm>
            <a:off x="2175724" y="2676303"/>
            <a:ext cx="5589826" cy="3735707"/>
            <a:chOff x="0" y="-47625"/>
            <a:chExt cx="1287474" cy="860425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1287474" cy="675965"/>
            </a:xfrm>
            <a:custGeom>
              <a:avLst/>
              <a:gdLst/>
              <a:ahLst/>
              <a:cxnLst/>
              <a:rect l="l" t="t" r="r" b="b"/>
              <a:pathLst>
                <a:path w="1287474" h="675965" extrusionOk="0">
                  <a:moveTo>
                    <a:pt x="80771" y="0"/>
                  </a:moveTo>
                  <a:lnTo>
                    <a:pt x="1206703" y="0"/>
                  </a:lnTo>
                  <a:cubicBezTo>
                    <a:pt x="1251312" y="0"/>
                    <a:pt x="1287474" y="36162"/>
                    <a:pt x="1287474" y="80771"/>
                  </a:cubicBezTo>
                  <a:lnTo>
                    <a:pt x="1287474" y="595194"/>
                  </a:lnTo>
                  <a:cubicBezTo>
                    <a:pt x="1287474" y="639803"/>
                    <a:pt x="1251312" y="675965"/>
                    <a:pt x="1206703" y="675965"/>
                  </a:cubicBezTo>
                  <a:lnTo>
                    <a:pt x="80771" y="675965"/>
                  </a:lnTo>
                  <a:cubicBezTo>
                    <a:pt x="36162" y="675965"/>
                    <a:pt x="0" y="639803"/>
                    <a:pt x="0" y="595194"/>
                  </a:cubicBezTo>
                  <a:lnTo>
                    <a:pt x="0" y="80771"/>
                  </a:lnTo>
                  <a:cubicBezTo>
                    <a:pt x="0" y="36162"/>
                    <a:pt x="36162" y="0"/>
                    <a:pt x="80771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104550" tIns="104550" rIns="104550" bIns="104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100" tIns="58100" rIns="58100" bIns="581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2021652" y="6411999"/>
            <a:ext cx="5743937" cy="3838700"/>
            <a:chOff x="0" y="-47625"/>
            <a:chExt cx="1287474" cy="860425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1287474" cy="675965"/>
            </a:xfrm>
            <a:custGeom>
              <a:avLst/>
              <a:gdLst/>
              <a:ahLst/>
              <a:cxnLst/>
              <a:rect l="l" t="t" r="r" b="b"/>
              <a:pathLst>
                <a:path w="1287474" h="675965" extrusionOk="0">
                  <a:moveTo>
                    <a:pt x="80771" y="0"/>
                  </a:moveTo>
                  <a:lnTo>
                    <a:pt x="1206703" y="0"/>
                  </a:lnTo>
                  <a:cubicBezTo>
                    <a:pt x="1251312" y="0"/>
                    <a:pt x="1287474" y="36162"/>
                    <a:pt x="1287474" y="80771"/>
                  </a:cubicBezTo>
                  <a:lnTo>
                    <a:pt x="1287474" y="595194"/>
                  </a:lnTo>
                  <a:cubicBezTo>
                    <a:pt x="1287474" y="639803"/>
                    <a:pt x="1251312" y="675965"/>
                    <a:pt x="1206703" y="675965"/>
                  </a:cubicBezTo>
                  <a:lnTo>
                    <a:pt x="80771" y="675965"/>
                  </a:lnTo>
                  <a:cubicBezTo>
                    <a:pt x="36162" y="675965"/>
                    <a:pt x="0" y="639803"/>
                    <a:pt x="0" y="595194"/>
                  </a:cubicBezTo>
                  <a:lnTo>
                    <a:pt x="0" y="80771"/>
                  </a:lnTo>
                  <a:cubicBezTo>
                    <a:pt x="0" y="36162"/>
                    <a:pt x="36162" y="0"/>
                    <a:pt x="80771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9700" tIns="59700" rIns="59700" bIns="597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6"/>
          <p:cNvSpPr txBox="1"/>
          <p:nvPr/>
        </p:nvSpPr>
        <p:spPr>
          <a:xfrm>
            <a:off x="827843" y="743025"/>
            <a:ext cx="16632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The 4 Datasets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2958176" y="3185443"/>
            <a:ext cx="38709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93D2F"/>
                </a:solidFill>
                <a:latin typeface="Lato"/>
                <a:ea typeface="Lato"/>
                <a:cs typeface="Lato"/>
                <a:sym typeface="Lato"/>
              </a:rPr>
              <a:t>Farmer Details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2444500" y="4398113"/>
            <a:ext cx="50523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293D2F"/>
                </a:solidFill>
                <a:latin typeface="Lato"/>
                <a:ea typeface="Lato"/>
                <a:cs typeface="Lato"/>
                <a:sym typeface="Lato"/>
              </a:rPr>
              <a:t>Gender, Age, Agro-ecological Zone, Region, Number of Seasons</a:t>
            </a:r>
            <a:endParaRPr sz="1600"/>
          </a:p>
        </p:txBody>
      </p:sp>
      <p:sp>
        <p:nvSpPr>
          <p:cNvPr id="145" name="Google Shape;145;p16"/>
          <p:cNvSpPr txBox="1"/>
          <p:nvPr/>
        </p:nvSpPr>
        <p:spPr>
          <a:xfrm>
            <a:off x="2457774" y="8144500"/>
            <a:ext cx="4871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EDECEC"/>
                </a:solidFill>
                <a:latin typeface="Lato"/>
                <a:ea typeface="Lato"/>
                <a:cs typeface="Lato"/>
                <a:sym typeface="Lato"/>
              </a:rPr>
              <a:t>How many seeds planted, Spacing used, When they were planted</a:t>
            </a:r>
            <a:endParaRPr sz="1600"/>
          </a:p>
        </p:txBody>
      </p:sp>
      <p:sp>
        <p:nvSpPr>
          <p:cNvPr id="146" name="Google Shape;146;p16"/>
          <p:cNvSpPr txBox="1"/>
          <p:nvPr/>
        </p:nvSpPr>
        <p:spPr>
          <a:xfrm>
            <a:off x="10140475" y="3159741"/>
            <a:ext cx="38709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EDECEC"/>
                </a:solidFill>
                <a:latin typeface="Lato"/>
                <a:ea typeface="Lato"/>
                <a:cs typeface="Lato"/>
                <a:sym typeface="Lato"/>
              </a:rPr>
              <a:t>Loan Details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2958168" y="6959873"/>
            <a:ext cx="38709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EDECEC"/>
                </a:solidFill>
                <a:latin typeface="Lato"/>
                <a:ea typeface="Lato"/>
                <a:cs typeface="Lato"/>
                <a:sym typeface="Lato"/>
              </a:rPr>
              <a:t>Planting Survey</a:t>
            </a:r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9487224" y="2676303"/>
            <a:ext cx="5589826" cy="3735599"/>
            <a:chOff x="0" y="-47625"/>
            <a:chExt cx="1287474" cy="860400"/>
          </a:xfrm>
        </p:grpSpPr>
        <p:sp>
          <p:nvSpPr>
            <p:cNvPr id="149" name="Google Shape;149;p16"/>
            <p:cNvSpPr/>
            <p:nvPr/>
          </p:nvSpPr>
          <p:spPr>
            <a:xfrm>
              <a:off x="0" y="0"/>
              <a:ext cx="1287474" cy="675965"/>
            </a:xfrm>
            <a:custGeom>
              <a:avLst/>
              <a:gdLst/>
              <a:ahLst/>
              <a:cxnLst/>
              <a:rect l="l" t="t" r="r" b="b"/>
              <a:pathLst>
                <a:path w="1287474" h="675965" extrusionOk="0">
                  <a:moveTo>
                    <a:pt x="80771" y="0"/>
                  </a:moveTo>
                  <a:lnTo>
                    <a:pt x="1206703" y="0"/>
                  </a:lnTo>
                  <a:cubicBezTo>
                    <a:pt x="1251312" y="0"/>
                    <a:pt x="1287474" y="36162"/>
                    <a:pt x="1287474" y="80771"/>
                  </a:cubicBezTo>
                  <a:lnTo>
                    <a:pt x="1287474" y="595194"/>
                  </a:lnTo>
                  <a:cubicBezTo>
                    <a:pt x="1287474" y="639803"/>
                    <a:pt x="1251312" y="675965"/>
                    <a:pt x="1206703" y="675965"/>
                  </a:cubicBezTo>
                  <a:lnTo>
                    <a:pt x="80771" y="675965"/>
                  </a:lnTo>
                  <a:cubicBezTo>
                    <a:pt x="36162" y="675965"/>
                    <a:pt x="0" y="639803"/>
                    <a:pt x="0" y="595194"/>
                  </a:cubicBezTo>
                  <a:lnTo>
                    <a:pt x="0" y="80771"/>
                  </a:lnTo>
                  <a:cubicBezTo>
                    <a:pt x="0" y="36162"/>
                    <a:pt x="36162" y="0"/>
                    <a:pt x="80771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104550" tIns="104550" rIns="104550" bIns="104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100" tIns="58100" rIns="58100" bIns="581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9333152" y="6411999"/>
            <a:ext cx="5743937" cy="3838589"/>
            <a:chOff x="0" y="-47625"/>
            <a:chExt cx="1287474" cy="860400"/>
          </a:xfrm>
        </p:grpSpPr>
        <p:sp>
          <p:nvSpPr>
            <p:cNvPr id="152" name="Google Shape;152;p16"/>
            <p:cNvSpPr/>
            <p:nvPr/>
          </p:nvSpPr>
          <p:spPr>
            <a:xfrm>
              <a:off x="0" y="0"/>
              <a:ext cx="1287474" cy="675965"/>
            </a:xfrm>
            <a:custGeom>
              <a:avLst/>
              <a:gdLst/>
              <a:ahLst/>
              <a:cxnLst/>
              <a:rect l="l" t="t" r="r" b="b"/>
              <a:pathLst>
                <a:path w="1287474" h="675965" extrusionOk="0">
                  <a:moveTo>
                    <a:pt x="80771" y="0"/>
                  </a:moveTo>
                  <a:lnTo>
                    <a:pt x="1206703" y="0"/>
                  </a:lnTo>
                  <a:cubicBezTo>
                    <a:pt x="1251312" y="0"/>
                    <a:pt x="1287474" y="36162"/>
                    <a:pt x="1287474" y="80771"/>
                  </a:cubicBezTo>
                  <a:lnTo>
                    <a:pt x="1287474" y="595194"/>
                  </a:lnTo>
                  <a:cubicBezTo>
                    <a:pt x="1287474" y="639803"/>
                    <a:pt x="1251312" y="675965"/>
                    <a:pt x="1206703" y="675965"/>
                  </a:cubicBezTo>
                  <a:lnTo>
                    <a:pt x="80771" y="675965"/>
                  </a:lnTo>
                  <a:cubicBezTo>
                    <a:pt x="36162" y="675965"/>
                    <a:pt x="0" y="639803"/>
                    <a:pt x="0" y="595194"/>
                  </a:cubicBezTo>
                  <a:lnTo>
                    <a:pt x="0" y="80771"/>
                  </a:lnTo>
                  <a:cubicBezTo>
                    <a:pt x="0" y="36162"/>
                    <a:pt x="36162" y="0"/>
                    <a:pt x="80771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9700" tIns="59700" rIns="59700" bIns="597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6"/>
          <p:cNvSpPr txBox="1"/>
          <p:nvPr/>
        </p:nvSpPr>
        <p:spPr>
          <a:xfrm>
            <a:off x="10269676" y="3185443"/>
            <a:ext cx="38709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93D2F"/>
                </a:solidFill>
                <a:latin typeface="Lato"/>
                <a:ea typeface="Lato"/>
                <a:cs typeface="Lato"/>
                <a:sym typeface="Lato"/>
              </a:rPr>
              <a:t>Loan Details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756000" y="4398113"/>
            <a:ext cx="50523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293D2F"/>
                </a:solidFill>
                <a:latin typeface="Lato"/>
                <a:ea typeface="Lato"/>
                <a:cs typeface="Lato"/>
                <a:sym typeface="Lato"/>
              </a:rPr>
              <a:t>Input packages farmer received, Any programmes involved in</a:t>
            </a:r>
            <a:endParaRPr sz="1600"/>
          </a:p>
        </p:txBody>
      </p:sp>
      <p:sp>
        <p:nvSpPr>
          <p:cNvPr id="156" name="Google Shape;156;p16"/>
          <p:cNvSpPr txBox="1"/>
          <p:nvPr/>
        </p:nvSpPr>
        <p:spPr>
          <a:xfrm>
            <a:off x="9769274" y="8144500"/>
            <a:ext cx="4871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EDECEC"/>
                </a:solidFill>
                <a:latin typeface="Lato"/>
                <a:ea typeface="Lato"/>
                <a:cs typeface="Lato"/>
                <a:sym typeface="Lato"/>
              </a:rPr>
              <a:t>Who sold, How much they sold, What price they received</a:t>
            </a:r>
            <a:endParaRPr sz="1600"/>
          </a:p>
        </p:txBody>
      </p:sp>
      <p:sp>
        <p:nvSpPr>
          <p:cNvPr id="157" name="Google Shape;157;p16"/>
          <p:cNvSpPr txBox="1"/>
          <p:nvPr/>
        </p:nvSpPr>
        <p:spPr>
          <a:xfrm>
            <a:off x="10269668" y="6959873"/>
            <a:ext cx="38709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EDECEC"/>
                </a:solidFill>
                <a:latin typeface="Lato"/>
                <a:ea typeface="Lato"/>
                <a:cs typeface="Lato"/>
                <a:sym typeface="Lato"/>
              </a:rPr>
              <a:t>Buy Back Details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t="12500" b="1250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17"/>
          <p:cNvGrpSpPr/>
          <p:nvPr/>
        </p:nvGrpSpPr>
        <p:grpSpPr>
          <a:xfrm>
            <a:off x="1837015" y="6782795"/>
            <a:ext cx="16826212" cy="3266927"/>
            <a:chOff x="0" y="-47625"/>
            <a:chExt cx="4431595" cy="860425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4431595" cy="726083"/>
            </a:xfrm>
            <a:custGeom>
              <a:avLst/>
              <a:gdLst/>
              <a:ahLst/>
              <a:cxnLst/>
              <a:rect l="l" t="t" r="r" b="b"/>
              <a:pathLst>
                <a:path w="4431595" h="726083" extrusionOk="0">
                  <a:moveTo>
                    <a:pt x="23466" y="0"/>
                  </a:moveTo>
                  <a:lnTo>
                    <a:pt x="4408129" y="0"/>
                  </a:lnTo>
                  <a:cubicBezTo>
                    <a:pt x="4421089" y="0"/>
                    <a:pt x="4431595" y="10506"/>
                    <a:pt x="4431595" y="23466"/>
                  </a:cubicBezTo>
                  <a:lnTo>
                    <a:pt x="4431595" y="702617"/>
                  </a:lnTo>
                  <a:cubicBezTo>
                    <a:pt x="4431595" y="715577"/>
                    <a:pt x="4421089" y="726083"/>
                    <a:pt x="4408129" y="726083"/>
                  </a:cubicBezTo>
                  <a:lnTo>
                    <a:pt x="23466" y="726083"/>
                  </a:lnTo>
                  <a:cubicBezTo>
                    <a:pt x="10506" y="726083"/>
                    <a:pt x="0" y="715577"/>
                    <a:pt x="0" y="702617"/>
                  </a:cubicBezTo>
                  <a:lnTo>
                    <a:pt x="0" y="23466"/>
                  </a:lnTo>
                  <a:cubicBezTo>
                    <a:pt x="0" y="10506"/>
                    <a:pt x="10506" y="0"/>
                    <a:pt x="2346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464741" y="6963621"/>
            <a:ext cx="2744545" cy="2756847"/>
            <a:chOff x="1813" y="0"/>
            <a:chExt cx="809173" cy="812800"/>
          </a:xfrm>
        </p:grpSpPr>
        <p:sp>
          <p:nvSpPr>
            <p:cNvPr id="167" name="Google Shape;167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 b="0" i="0" u="none" strike="noStrike" cap="none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01.</a:t>
              </a:r>
              <a:endParaRPr/>
            </a:p>
          </p:txBody>
        </p:sp>
      </p:grpSp>
      <p:sp>
        <p:nvSpPr>
          <p:cNvPr id="169" name="Google Shape;169;p17"/>
          <p:cNvSpPr txBox="1"/>
          <p:nvPr/>
        </p:nvSpPr>
        <p:spPr>
          <a:xfrm>
            <a:off x="3502012" y="7356800"/>
            <a:ext cx="14295300" cy="17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Predictive Model</a:t>
            </a:r>
            <a:endParaRPr sz="69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Develop a model to predict expected farmer yield and identify the most significant predictors</a:t>
            </a:r>
            <a:r>
              <a:rPr lang="en-US" sz="270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0" b="1">
              <a:solidFill>
                <a:srgbClr val="EDECE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1092825" y="604425"/>
            <a:ext cx="15767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The Problem with Predicting Yield the Simple Way</a:t>
            </a:r>
            <a:endParaRPr sz="5800"/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 amt="19999"/>
          </a:blip>
          <a:srcRect/>
          <a:stretch/>
        </p:blipFill>
        <p:spPr>
          <a:xfrm rot="699581">
            <a:off x="-1830145" y="6197091"/>
            <a:ext cx="5357116" cy="4895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 rotWithShape="1">
          <a:blip r:embed="rId3">
            <a:alphaModFix amt="19999"/>
          </a:blip>
          <a:srcRect/>
          <a:stretch/>
        </p:blipFill>
        <p:spPr>
          <a:xfrm rot="-3255317">
            <a:off x="13776983" y="3477800"/>
            <a:ext cx="8078130" cy="738139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96000" y="2842750"/>
            <a:ext cx="17496000" cy="6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44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ato"/>
              <a:buChar char="○"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standard regression model would fail, not because the model is poorly calibrated 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but because it is solving the wrong problem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44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ato"/>
              <a:buChar char="○"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Ask a regressor to predict yield for a non-seller and it would return something 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like 80 kg — a small positive number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44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ato"/>
              <a:buChar char="○"/>
            </a:pPr>
            <a:r>
              <a:rPr lang="en-US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5254 Non-selling farmers didn't have a small harvest. They had no harvest.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(Note: 2024-25 was a post-drought recovery season. Some non-sellers carry debt rolled over from the 2023-24 drought, making the non-seller problem especially acute this season.)</a:t>
            </a:r>
            <a:endParaRPr sz="2800" i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1092825" y="604425"/>
            <a:ext cx="15767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The Solution : Two Stage Hurdle Model</a:t>
            </a:r>
            <a:endParaRPr sz="5800"/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699582">
            <a:off x="-1830145" y="6197092"/>
            <a:ext cx="5357116" cy="489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3255317">
            <a:off x="13776983" y="3477801"/>
            <a:ext cx="8078131" cy="738139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228675" y="6202050"/>
            <a:ext cx="17496000" cy="6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Stage 1 : Classifier–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Segregates farmer by seller vs. non seller 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Stage 2 : Regressor – 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they sold, how much did they sell?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farmer must clear the first hurdle (the likelihood of selling) before the second stage 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makes any prediction about quantity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6550" y="1979600"/>
            <a:ext cx="9520230" cy="38118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/>
        </p:nvSpPr>
        <p:spPr>
          <a:xfrm>
            <a:off x="1092825" y="604425"/>
            <a:ext cx="15767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Picking the right model : XGBoost</a:t>
            </a:r>
            <a:endParaRPr sz="5800"/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699582">
            <a:off x="-1830145" y="6197092"/>
            <a:ext cx="5357116" cy="489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3255317">
            <a:off x="13776983" y="3477801"/>
            <a:ext cx="8078131" cy="738139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228675" y="8182725"/>
            <a:ext cx="17496000" cy="6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 Algorithms tested on identical data and identical cross validation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XGBoost won on every metric 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12711211" y="8088308"/>
            <a:ext cx="2041446" cy="2050596"/>
            <a:chOff x="3165" y="0"/>
            <a:chExt cx="998653" cy="1003129"/>
          </a:xfrm>
        </p:grpSpPr>
        <p:sp>
          <p:nvSpPr>
            <p:cNvPr id="196" name="Google Shape;196;p20"/>
            <p:cNvSpPr/>
            <p:nvPr/>
          </p:nvSpPr>
          <p:spPr>
            <a:xfrm>
              <a:off x="3165" y="0"/>
              <a:ext cx="998653" cy="1003129"/>
            </a:xfrm>
            <a:custGeom>
              <a:avLst/>
              <a:gdLst/>
              <a:ahLst/>
              <a:cxnLst/>
              <a:rect l="l" t="t" r="r" b="b"/>
              <a:pathLst>
                <a:path w="998653" h="1003129" extrusionOk="0">
                  <a:moveTo>
                    <a:pt x="499326" y="0"/>
                  </a:moveTo>
                  <a:cubicBezTo>
                    <a:pt x="775457" y="1235"/>
                    <a:pt x="998653" y="225431"/>
                    <a:pt x="998653" y="501565"/>
                  </a:cubicBezTo>
                  <a:cubicBezTo>
                    <a:pt x="998653" y="777698"/>
                    <a:pt x="775457" y="1001894"/>
                    <a:pt x="499326" y="1003129"/>
                  </a:cubicBezTo>
                  <a:cubicBezTo>
                    <a:pt x="223195" y="1001894"/>
                    <a:pt x="0" y="777698"/>
                    <a:pt x="0" y="501565"/>
                  </a:cubicBezTo>
                  <a:cubicBezTo>
                    <a:pt x="0" y="225431"/>
                    <a:pt x="223195" y="1235"/>
                    <a:pt x="49932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98877" y="175464"/>
              <a:ext cx="807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EDECEC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1.8845</a:t>
              </a:r>
              <a:endParaRPr sz="42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EDECEC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RMSE</a:t>
              </a:r>
              <a:endParaRPr sz="42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endParaRPr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15266211" y="8088308"/>
            <a:ext cx="2041446" cy="2050596"/>
            <a:chOff x="3165" y="0"/>
            <a:chExt cx="998653" cy="1003129"/>
          </a:xfrm>
        </p:grpSpPr>
        <p:sp>
          <p:nvSpPr>
            <p:cNvPr id="199" name="Google Shape;199;p20"/>
            <p:cNvSpPr/>
            <p:nvPr/>
          </p:nvSpPr>
          <p:spPr>
            <a:xfrm>
              <a:off x="3165" y="0"/>
              <a:ext cx="998653" cy="1003129"/>
            </a:xfrm>
            <a:custGeom>
              <a:avLst/>
              <a:gdLst/>
              <a:ahLst/>
              <a:cxnLst/>
              <a:rect l="l" t="t" r="r" b="b"/>
              <a:pathLst>
                <a:path w="998653" h="1003129" extrusionOk="0">
                  <a:moveTo>
                    <a:pt x="499326" y="0"/>
                  </a:moveTo>
                  <a:cubicBezTo>
                    <a:pt x="775457" y="1235"/>
                    <a:pt x="998653" y="225431"/>
                    <a:pt x="998653" y="501565"/>
                  </a:cubicBezTo>
                  <a:cubicBezTo>
                    <a:pt x="998653" y="777698"/>
                    <a:pt x="775457" y="1001894"/>
                    <a:pt x="499326" y="1003129"/>
                  </a:cubicBezTo>
                  <a:cubicBezTo>
                    <a:pt x="223195" y="1001894"/>
                    <a:pt x="0" y="777698"/>
                    <a:pt x="0" y="501565"/>
                  </a:cubicBezTo>
                  <a:cubicBezTo>
                    <a:pt x="0" y="225431"/>
                    <a:pt x="223195" y="1235"/>
                    <a:pt x="49932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98877" y="175464"/>
              <a:ext cx="807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EDECEC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0.469 </a:t>
              </a:r>
              <a:endParaRPr sz="42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lt1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R² </a:t>
              </a:r>
              <a:endParaRPr sz="4200">
                <a:solidFill>
                  <a:schemeClr val="lt1"/>
                </a:solidFill>
                <a:latin typeface="Francois One"/>
                <a:ea typeface="Francois One"/>
                <a:cs typeface="Francois One"/>
                <a:sym typeface="Francois One"/>
              </a:endParaRPr>
            </a:p>
          </p:txBody>
        </p:sp>
      </p:grp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1984" y="1726275"/>
            <a:ext cx="13675918" cy="62581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1092825" y="326400"/>
            <a:ext cx="15767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XGBoost Accuracy</a:t>
            </a:r>
            <a:endParaRPr sz="5800"/>
          </a:p>
        </p:txBody>
      </p:sp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699582">
            <a:off x="-1830145" y="6197092"/>
            <a:ext cx="5357116" cy="489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3255317">
            <a:off x="13776983" y="3477801"/>
            <a:ext cx="8078131" cy="738139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228675" y="7673525"/>
            <a:ext cx="17496000" cy="6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After selecting XGBoost, Bayesian hyperparameter tuning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improved R² from 0.469 to 0.475</a:t>
            </a: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remaining variation is possibly due to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weather shocks (including drought recovery in 2023-24)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soil micro-conditions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unobserved farmer decisions 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— factors no model can see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0188" y="1219200"/>
            <a:ext cx="7672977" cy="66906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2"/>
          <p:cNvGrpSpPr/>
          <p:nvPr/>
        </p:nvGrpSpPr>
        <p:grpSpPr>
          <a:xfrm>
            <a:off x="1062502" y="3669407"/>
            <a:ext cx="7701344" cy="5588893"/>
            <a:chOff x="0" y="-47625"/>
            <a:chExt cx="1565821" cy="1136322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1565821" cy="1088697"/>
            </a:xfrm>
            <a:custGeom>
              <a:avLst/>
              <a:gdLst/>
              <a:ahLst/>
              <a:cxnLst/>
              <a:rect l="l" t="t" r="r" b="b"/>
              <a:pathLst>
                <a:path w="1565821" h="1088697" extrusionOk="0">
                  <a:moveTo>
                    <a:pt x="51269" y="0"/>
                  </a:moveTo>
                  <a:lnTo>
                    <a:pt x="1514553" y="0"/>
                  </a:lnTo>
                  <a:cubicBezTo>
                    <a:pt x="1528150" y="0"/>
                    <a:pt x="1541191" y="5402"/>
                    <a:pt x="1550805" y="15016"/>
                  </a:cubicBezTo>
                  <a:cubicBezTo>
                    <a:pt x="1560420" y="24631"/>
                    <a:pt x="1565821" y="37671"/>
                    <a:pt x="1565821" y="51269"/>
                  </a:cubicBezTo>
                  <a:lnTo>
                    <a:pt x="1565821" y="1037428"/>
                  </a:lnTo>
                  <a:cubicBezTo>
                    <a:pt x="1565821" y="1051026"/>
                    <a:pt x="1560420" y="1064066"/>
                    <a:pt x="1550805" y="1073681"/>
                  </a:cubicBezTo>
                  <a:cubicBezTo>
                    <a:pt x="1541191" y="1083296"/>
                    <a:pt x="1528150" y="1088697"/>
                    <a:pt x="1514553" y="1088697"/>
                  </a:cubicBezTo>
                  <a:lnTo>
                    <a:pt x="51269" y="1088697"/>
                  </a:lnTo>
                  <a:cubicBezTo>
                    <a:pt x="37671" y="1088697"/>
                    <a:pt x="24631" y="1083296"/>
                    <a:pt x="15016" y="1073681"/>
                  </a:cubicBezTo>
                  <a:cubicBezTo>
                    <a:pt x="5402" y="1064066"/>
                    <a:pt x="0" y="1051026"/>
                    <a:pt x="0" y="1037428"/>
                  </a:cubicBezTo>
                  <a:lnTo>
                    <a:pt x="0" y="51269"/>
                  </a:lnTo>
                  <a:cubicBezTo>
                    <a:pt x="0" y="37671"/>
                    <a:pt x="5402" y="24631"/>
                    <a:pt x="15016" y="15016"/>
                  </a:cubicBezTo>
                  <a:cubicBezTo>
                    <a:pt x="24631" y="5402"/>
                    <a:pt x="37671" y="0"/>
                    <a:pt x="51269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t="28906" b="28906"/>
          <a:stretch/>
        </p:blipFill>
        <p:spPr>
          <a:xfrm>
            <a:off x="0" y="0"/>
            <a:ext cx="1828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397024" y="5661150"/>
            <a:ext cx="7701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Understanding</a:t>
            </a:r>
            <a:endParaRPr sz="90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SHAP</a:t>
            </a:r>
            <a:endParaRPr sz="90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1971226" y="5758058"/>
            <a:ext cx="5883900" cy="3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SHapley Additive exPlanations gives us not just a prediction as to what this farmer will yield, it tells us:</a:t>
            </a: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"Why does the model predict it and which specific factors are driving it?”</a:t>
            </a:r>
            <a:endParaRPr sz="2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/>
        </p:nvSpPr>
        <p:spPr>
          <a:xfrm>
            <a:off x="1092825" y="604425"/>
            <a:ext cx="15767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An Example of how SHAP works</a:t>
            </a:r>
            <a:endParaRPr sz="5800"/>
          </a:p>
        </p:txBody>
      </p:sp>
      <p:pic>
        <p:nvPicPr>
          <p:cNvPr id="226" name="Google Shape;226;p2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699582">
            <a:off x="-1830145" y="6197092"/>
            <a:ext cx="5357116" cy="489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3255317">
            <a:off x="13776983" y="3477801"/>
            <a:ext cx="8078131" cy="738139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228675" y="2336450"/>
            <a:ext cx="17496000" cy="6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000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our model says “a farmer will yield 400 kg”. Good Nature Agro needs more than a number — they need to know which factors drove it and which inputs genuinely caused better outcomes!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Every Factor Gets a Score and is Ranked. Positive = Pushed Yield Up. Negative = Pulled Yield Down.</a:t>
            </a:r>
            <a:endParaRPr sz="43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3" title="20_shap_explanation_waterfal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00" y="3707350"/>
            <a:ext cx="10709998" cy="531533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0" name="Google Shape;230;p23"/>
          <p:cNvSpPr txBox="1"/>
          <p:nvPr/>
        </p:nvSpPr>
        <p:spPr>
          <a:xfrm>
            <a:off x="12364800" y="4501850"/>
            <a:ext cx="41760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-4600571" y="212046"/>
            <a:ext cx="10116962" cy="9244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24"/>
          <p:cNvGrpSpPr/>
          <p:nvPr/>
        </p:nvGrpSpPr>
        <p:grpSpPr>
          <a:xfrm>
            <a:off x="1195234" y="3293430"/>
            <a:ext cx="6108974" cy="4291195"/>
            <a:chOff x="520833" y="-2678700"/>
            <a:chExt cx="8145300" cy="5721593"/>
          </a:xfrm>
        </p:grpSpPr>
        <p:sp>
          <p:nvSpPr>
            <p:cNvPr id="237" name="Google Shape;237;p24"/>
            <p:cNvSpPr txBox="1"/>
            <p:nvPr/>
          </p:nvSpPr>
          <p:spPr>
            <a:xfrm>
              <a:off x="520833" y="-2678700"/>
              <a:ext cx="8145300" cy="38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0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True Drivers of Yield</a:t>
              </a:r>
              <a:endParaRPr sz="1700"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520836" y="1778693"/>
              <a:ext cx="7435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Applying SHAP for our 22,597 Farmers </a:t>
              </a:r>
              <a:endPara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 Clear Picture Emerges.</a:t>
              </a:r>
              <a:endParaRPr sz="1700"/>
            </a:p>
          </p:txBody>
        </p:sp>
      </p:grpSp>
      <p:pic>
        <p:nvPicPr>
          <p:cNvPr id="239" name="Google Shape;2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4300" y="130225"/>
            <a:ext cx="10033999" cy="100339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/>
          <p:cNvPicPr preferRelativeResize="0"/>
          <p:nvPr/>
        </p:nvPicPr>
        <p:blipFill rotWithShape="1">
          <a:blip r:embed="rId3">
            <a:alphaModFix amt="19999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297626" y="396425"/>
            <a:ext cx="1752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1 : Geography is Destiny</a:t>
            </a:r>
            <a:endParaRPr sz="5800"/>
          </a:p>
        </p:txBody>
      </p:sp>
      <p:sp>
        <p:nvSpPr>
          <p:cNvPr id="246" name="Google Shape;246;p25"/>
          <p:cNvSpPr txBox="1"/>
          <p:nvPr/>
        </p:nvSpPr>
        <p:spPr>
          <a:xfrm>
            <a:off x="-372050" y="1419450"/>
            <a:ext cx="8036100" cy="79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Kasenengwa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leads the portfolio —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706 kg median yield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only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7%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dropout across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3,557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farmers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Three regions have collapsed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Western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Southern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Mumbwa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each sit above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50%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dropout with near-zero median yield. Combined, that is over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4,900 farmers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delivering almost nothing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Kapiri is the warning sign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2,790 farmers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46% dropout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still showing some yield. This is a region mid-collapse, not yet at zero but heading there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 dropout and high yield move together 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every green region has both. Every red region has neither. Geography determines both outcomes simultaneously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4350" y="1565775"/>
            <a:ext cx="10255150" cy="83305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/>
        </p:nvSpPr>
        <p:spPr>
          <a:xfrm>
            <a:off x="297626" y="396425"/>
            <a:ext cx="1752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1 : Geography is Destiny</a:t>
            </a:r>
            <a:endParaRPr sz="5800"/>
          </a:p>
        </p:txBody>
      </p:sp>
      <p:sp>
        <p:nvSpPr>
          <p:cNvPr id="254" name="Google Shape;254;p26"/>
          <p:cNvSpPr txBox="1"/>
          <p:nvPr/>
        </p:nvSpPr>
        <p:spPr>
          <a:xfrm>
            <a:off x="-461275" y="1493175"/>
            <a:ext cx="8036100" cy="10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937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Char char="○"/>
            </a:pP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Safe Zone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</a:t>
            </a: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Kasenengwa, Northern, Chipangali, Katete, Chadiza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</a:t>
            </a: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Malawi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: low non-seller rates, meaningful yield, deep green. These regions are working</a:t>
            </a:r>
            <a:endParaRPr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937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Char char="○"/>
            </a:pP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Crisis Zone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</a:t>
            </a: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Western, Southern and Mumbwa </a:t>
            </a:r>
            <a:r>
              <a:rPr lang="en-US" sz="26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(regions likely disproportionately affected by the 2023-24 drought) 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6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50%+ non-seller rates, near-zero yield, deep red. These are highly underperforming zones</a:t>
            </a:r>
            <a:endParaRPr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937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Char char="○"/>
            </a:pPr>
            <a:r>
              <a:rPr lang="en-US" sz="2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Northern is the most important region to protect</a:t>
            </a:r>
            <a:r>
              <a:rPr lang="en-US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largest bubble in the safe zone, 5,171 farmers, 10% dropout. Any deterioration here has the largest impact</a:t>
            </a:r>
            <a:endParaRPr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5" name="Google Shape;2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3081" y="1664775"/>
            <a:ext cx="10039618" cy="84173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7"/>
          <p:cNvGrpSpPr/>
          <p:nvPr/>
        </p:nvGrpSpPr>
        <p:grpSpPr>
          <a:xfrm>
            <a:off x="5230182" y="1543206"/>
            <a:ext cx="13979320" cy="2313190"/>
            <a:chOff x="0" y="-38100"/>
            <a:chExt cx="6136327" cy="1015392"/>
          </a:xfrm>
        </p:grpSpPr>
        <p:sp>
          <p:nvSpPr>
            <p:cNvPr id="261" name="Google Shape;261;p27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27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496" r="-62496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9757900" y="5091750"/>
            <a:ext cx="8686200" cy="3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Non-seller rates are geographically structured — not random. This means interventions can be geographically targeted. Not every region needs the same response</a:t>
            </a:r>
            <a:r>
              <a:rPr lang="en-US" sz="4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50" cy="178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8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 txBox="1"/>
          <p:nvPr/>
        </p:nvSpPr>
        <p:spPr>
          <a:xfrm>
            <a:off x="297626" y="396425"/>
            <a:ext cx="1752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2 : The Crop a Farmer Grows is a Risk Signal</a:t>
            </a:r>
            <a:endParaRPr sz="5800"/>
          </a:p>
        </p:txBody>
      </p:sp>
      <p:sp>
        <p:nvSpPr>
          <p:cNvPr id="273" name="Google Shape;273;p28"/>
          <p:cNvSpPr txBox="1"/>
          <p:nvPr/>
        </p:nvSpPr>
        <p:spPr>
          <a:xfrm>
            <a:off x="-461275" y="4341075"/>
            <a:ext cx="18013200" cy="24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4" name="Google Shape;2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425" y="1440963"/>
            <a:ext cx="16033701" cy="67484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5" name="Google Shape;275;p28"/>
          <p:cNvSpPr txBox="1"/>
          <p:nvPr/>
        </p:nvSpPr>
        <p:spPr>
          <a:xfrm>
            <a:off x="2698600" y="8341125"/>
            <a:ext cx="11218200" cy="1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Groundnut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42% non-seller rate | Median yield 35 kg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Soy Bean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22% non-seller rate | Median yield 200 kg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Navy Bean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8.3% non-seller rate | Median yield 300 kg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9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281" name="Google Shape;281;p29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29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9656950" y="5018050"/>
            <a:ext cx="8488200" cy="3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Crop selection at loan registration is </a:t>
            </a:r>
            <a:endParaRPr sz="3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just an agronomic decision, it is a risk decision. Certain crop-zone combinations carry structurally higher dropout risk and should be priced accordingly.</a:t>
            </a:r>
            <a:endParaRPr sz="3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6" name="Google Shape;286;p29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 txBox="1"/>
          <p:nvPr/>
        </p:nvSpPr>
        <p:spPr>
          <a:xfrm>
            <a:off x="297626" y="396425"/>
            <a:ext cx="1752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3 : Loyalty is Key</a:t>
            </a:r>
            <a:endParaRPr sz="5800"/>
          </a:p>
        </p:txBody>
      </p:sp>
      <p:sp>
        <p:nvSpPr>
          <p:cNvPr id="293" name="Google Shape;293;p30"/>
          <p:cNvSpPr txBox="1"/>
          <p:nvPr/>
        </p:nvSpPr>
        <p:spPr>
          <a:xfrm>
            <a:off x="-327450" y="2955950"/>
            <a:ext cx="8036100" cy="58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1" indent="-4064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Season 1 is the danger point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dropout peaks at 27.7%, the highest of any season. This is where Good Nature Agro loses the most farmers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Survive Season 1 and the dropout falls from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27.7%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9.6%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by Season 2, then to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4.3%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by Season 3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4" name="Google Shape;294;p30"/>
          <p:cNvPicPr preferRelativeResize="0"/>
          <p:nvPr/>
        </p:nvPicPr>
        <p:blipFill rotWithShape="1">
          <a:blip r:embed="rId4">
            <a:alphaModFix/>
          </a:blip>
          <a:srcRect l="-1340" t="-1490" r="1340" b="1490"/>
          <a:stretch/>
        </p:blipFill>
        <p:spPr>
          <a:xfrm>
            <a:off x="7581550" y="1784200"/>
            <a:ext cx="10462399" cy="78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1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1"/>
          <p:cNvSpPr txBox="1"/>
          <p:nvPr/>
        </p:nvSpPr>
        <p:spPr>
          <a:xfrm>
            <a:off x="297626" y="396425"/>
            <a:ext cx="1752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3 : Loyalty is Key</a:t>
            </a:r>
            <a:endParaRPr sz="5800"/>
          </a:p>
        </p:txBody>
      </p:sp>
      <p:sp>
        <p:nvSpPr>
          <p:cNvPr id="301" name="Google Shape;301;p31"/>
          <p:cNvSpPr txBox="1"/>
          <p:nvPr/>
        </p:nvSpPr>
        <p:spPr>
          <a:xfrm>
            <a:off x="-457600" y="1171750"/>
            <a:ext cx="8036100" cy="100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Yield follows the same curve —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100 kg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at Season 1,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320 kg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by Season 2,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1,043 kg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by Season 6+.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10x increase over the farmer's lifetime with Good Nature Agro</a:t>
            </a: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Season 6+ farmers are Good Nature Agro's most reliable asset with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1.3%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dropout rate,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1,000+ kg 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median yield. These farmers have minimal churn risk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first two seasons are make or break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every farmer who survives Season 1 and 2 is on a trajectory toward long-term productivity and loyalty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2" name="Google Shape;3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8500" y="1909575"/>
            <a:ext cx="10553375" cy="79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2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308" name="Google Shape;308;p32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2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2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312" name="Google Shape;312;p32"/>
          <p:cNvSpPr txBox="1"/>
          <p:nvPr/>
        </p:nvSpPr>
        <p:spPr>
          <a:xfrm>
            <a:off x="9656950" y="5084950"/>
            <a:ext cx="8488200" cy="3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Invest disproportionately in Season 1 farmer support. It is the single intervention with the highest long-term return in Good Nature Agro's entire portfolio.</a:t>
            </a: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3" name="Google Shape;313;p32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3"/>
          <p:cNvPicPr preferRelativeResize="0"/>
          <p:nvPr/>
        </p:nvPicPr>
        <p:blipFill rotWithShape="1">
          <a:blip r:embed="rId3">
            <a:alphaModFix/>
          </a:blip>
          <a:srcRect t="12503" b="12495"/>
          <a:stretch/>
        </p:blipFill>
        <p:spPr>
          <a:xfrm>
            <a:off x="0" y="0"/>
            <a:ext cx="18288003" cy="10287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33"/>
          <p:cNvGrpSpPr/>
          <p:nvPr/>
        </p:nvGrpSpPr>
        <p:grpSpPr>
          <a:xfrm>
            <a:off x="1837015" y="6782794"/>
            <a:ext cx="16826323" cy="3266853"/>
            <a:chOff x="0" y="-47625"/>
            <a:chExt cx="4431595" cy="860400"/>
          </a:xfrm>
        </p:grpSpPr>
        <p:sp>
          <p:nvSpPr>
            <p:cNvPr id="320" name="Google Shape;320;p33"/>
            <p:cNvSpPr/>
            <p:nvPr/>
          </p:nvSpPr>
          <p:spPr>
            <a:xfrm>
              <a:off x="0" y="0"/>
              <a:ext cx="4431595" cy="726083"/>
            </a:xfrm>
            <a:custGeom>
              <a:avLst/>
              <a:gdLst/>
              <a:ahLst/>
              <a:cxnLst/>
              <a:rect l="l" t="t" r="r" b="b"/>
              <a:pathLst>
                <a:path w="4431595" h="726083" extrusionOk="0">
                  <a:moveTo>
                    <a:pt x="23466" y="0"/>
                  </a:moveTo>
                  <a:lnTo>
                    <a:pt x="4408129" y="0"/>
                  </a:lnTo>
                  <a:cubicBezTo>
                    <a:pt x="4421089" y="0"/>
                    <a:pt x="4431595" y="10506"/>
                    <a:pt x="4431595" y="23466"/>
                  </a:cubicBezTo>
                  <a:lnTo>
                    <a:pt x="4431595" y="702617"/>
                  </a:lnTo>
                  <a:cubicBezTo>
                    <a:pt x="4431595" y="715577"/>
                    <a:pt x="4421089" y="726083"/>
                    <a:pt x="4408129" y="726083"/>
                  </a:cubicBezTo>
                  <a:lnTo>
                    <a:pt x="23466" y="726083"/>
                  </a:lnTo>
                  <a:cubicBezTo>
                    <a:pt x="10506" y="726083"/>
                    <a:pt x="0" y="715577"/>
                    <a:pt x="0" y="702617"/>
                  </a:cubicBezTo>
                  <a:lnTo>
                    <a:pt x="0" y="23466"/>
                  </a:lnTo>
                  <a:cubicBezTo>
                    <a:pt x="0" y="10506"/>
                    <a:pt x="10506" y="0"/>
                    <a:pt x="2346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3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33"/>
          <p:cNvGrpSpPr/>
          <p:nvPr/>
        </p:nvGrpSpPr>
        <p:grpSpPr>
          <a:xfrm>
            <a:off x="464741" y="6963621"/>
            <a:ext cx="2744553" cy="2756855"/>
            <a:chOff x="1813" y="0"/>
            <a:chExt cx="809173" cy="812800"/>
          </a:xfrm>
        </p:grpSpPr>
        <p:sp>
          <p:nvSpPr>
            <p:cNvPr id="323" name="Google Shape;323;p3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3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 b="0" i="0" u="none" strike="noStrike" cap="none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0</a:t>
              </a:r>
              <a:r>
                <a:rPr lang="en-US" sz="9000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2</a:t>
              </a:r>
              <a:r>
                <a:rPr lang="en-US" sz="9000" b="0" i="0" u="none" strike="noStrike" cap="none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.</a:t>
              </a:r>
              <a:endParaRPr/>
            </a:p>
          </p:txBody>
        </p:sp>
      </p:grpSp>
      <p:sp>
        <p:nvSpPr>
          <p:cNvPr id="325" name="Google Shape;325;p33"/>
          <p:cNvSpPr txBox="1"/>
          <p:nvPr/>
        </p:nvSpPr>
        <p:spPr>
          <a:xfrm>
            <a:off x="3502000" y="7356800"/>
            <a:ext cx="14786100" cy="17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Input Effectiveness</a:t>
            </a:r>
            <a:endParaRPr sz="69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Identify the components of the loan package that are most strongly associated with improved yield</a:t>
            </a:r>
            <a:endParaRPr sz="90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/>
        </p:nvSpPr>
        <p:spPr>
          <a:xfrm>
            <a:off x="663174" y="1060325"/>
            <a:ext cx="11328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Which Inputs Genuinely Drive Yield?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180325" y="2788500"/>
            <a:ext cx="13426200" cy="7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425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 Nature Agro provides fertilizer, fungicide, gypsum, lime, inoculant, insecticide and seed guard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problem: 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Farmers who use more inputs may also tend to be more experienced, in better zones, or on larger farms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we just compare "used input" vs "didn't use input" — we are comparing different types of farmers, not the input itself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SHAP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controls for all of this. What remains is the genuine effect of the input alone.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rgbClr val="293D2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804609" y="5726252"/>
            <a:ext cx="1008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4"/>
          <p:cNvSpPr txBox="1"/>
          <p:nvPr/>
        </p:nvSpPr>
        <p:spPr>
          <a:xfrm>
            <a:off x="804609" y="7493559"/>
            <a:ext cx="924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4" name="Google Shape;33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63061">
            <a:off x="12589920" y="5472767"/>
            <a:ext cx="8188587" cy="748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5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-4600571" y="212046"/>
            <a:ext cx="10116964" cy="9244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35"/>
          <p:cNvGrpSpPr/>
          <p:nvPr/>
        </p:nvGrpSpPr>
        <p:grpSpPr>
          <a:xfrm>
            <a:off x="130084" y="3293430"/>
            <a:ext cx="6108975" cy="4291195"/>
            <a:chOff x="-899367" y="-2678700"/>
            <a:chExt cx="8145300" cy="5721593"/>
          </a:xfrm>
        </p:grpSpPr>
        <p:sp>
          <p:nvSpPr>
            <p:cNvPr id="341" name="Google Shape;341;p35"/>
            <p:cNvSpPr txBox="1"/>
            <p:nvPr/>
          </p:nvSpPr>
          <p:spPr>
            <a:xfrm>
              <a:off x="-899367" y="-2678700"/>
              <a:ext cx="8145300" cy="28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800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Impact of Inputs (Interventions)</a:t>
              </a:r>
              <a:r>
                <a:rPr lang="en-US" sz="6900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 </a:t>
              </a:r>
              <a:endParaRPr sz="100"/>
            </a:p>
          </p:txBody>
        </p:sp>
        <p:sp>
          <p:nvSpPr>
            <p:cNvPr id="342" name="Google Shape;342;p35"/>
            <p:cNvSpPr txBox="1"/>
            <p:nvPr/>
          </p:nvSpPr>
          <p:spPr>
            <a:xfrm>
              <a:off x="-714331" y="1778693"/>
              <a:ext cx="7435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Applying SHAP for our 22,597 Farmers </a:t>
              </a:r>
              <a:endPara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 Clear Picture Emerges.</a:t>
              </a:r>
              <a:endParaRPr sz="1700"/>
            </a:p>
          </p:txBody>
        </p:sp>
      </p:grpSp>
      <p:pic>
        <p:nvPicPr>
          <p:cNvPr id="343" name="Google Shape;3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3775" y="1023125"/>
            <a:ext cx="12108099" cy="84332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/>
        </p:nvSpPr>
        <p:spPr>
          <a:xfrm>
            <a:off x="244500" y="226550"/>
            <a:ext cx="17799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4 : The Highest-Impact Input that </a:t>
            </a:r>
            <a:endParaRPr sz="55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most Soy Bean Farmers Don't Have</a:t>
            </a:r>
            <a:endParaRPr sz="55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-372050" y="1985700"/>
            <a:ext cx="8036100" cy="88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Fungicide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ranks as the #1 controllable input in the entire model with a consistent positive effect across crop types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Soy Bean is the largest crop type at 55% of the portfolio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Among Soy Bean farmers across all zones — those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with fungicide yield a median of 463 kg</a:t>
            </a:r>
            <a:endParaRPr sz="2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Those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without fungicide yield a median of 160 kg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the same crop, the same zones, a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189%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difference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Yet,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45%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Soy Bean farmers currently have no fungicide in their loan package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1" name="Google Shape;35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1800" y="2072150"/>
            <a:ext cx="9086550" cy="805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37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357" name="Google Shape;357;p37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37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7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361" name="Google Shape;361;p37"/>
          <p:cNvSpPr txBox="1"/>
          <p:nvPr/>
        </p:nvSpPr>
        <p:spPr>
          <a:xfrm>
            <a:off x="9656950" y="5218775"/>
            <a:ext cx="8488200" cy="4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Making fungicide the default in every Soy Bean package is the highest-return input decision Good Nature Agro can make.</a:t>
            </a: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2" name="Google Shape;362;p37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8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8"/>
          <p:cNvSpPr txBox="1"/>
          <p:nvPr/>
        </p:nvSpPr>
        <p:spPr>
          <a:xfrm>
            <a:off x="297626" y="396425"/>
            <a:ext cx="175233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5 : The Partnership Programme Is Working — Just Not Where You'd Expect</a:t>
            </a:r>
            <a:endParaRPr sz="40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8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-461275" y="4341075"/>
            <a:ext cx="18013200" cy="24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308250" y="7199150"/>
            <a:ext cx="176715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746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ato"/>
              <a:buChar char="○"/>
            </a:pP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18%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 farmers are enrolled in the Partnership Programme — concentrated in Mumbwa, Kapiri, and North-Western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 the surface: programme farmers yield 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188 kg/ha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vs 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488 kg/ha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for others, a 2.6 times gap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But this is misleading: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programme farmers have 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0% fungicide adoption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 richness score of 0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a 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57% non-seller rate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they belong to Good Nature Agro's most disadvantaged cohort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After controlling for all these disadvantages, the model assigns the programme a 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SHAP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</a:t>
            </a:r>
            <a:r>
              <a:rPr lang="en-US" sz="2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+0.0135 — the 2nd highest positive intervention in the entire dataset</a:t>
            </a:r>
            <a:endParaRPr sz="23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74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ato"/>
              <a:buChar char="○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Hence, the programme isn't failing, it's serving the hardest cases and still adding measurable value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1" name="Google Shape;3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3600" y="1025047"/>
            <a:ext cx="12335725" cy="61741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39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377" name="Google Shape;377;p39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39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9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381" name="Google Shape;381;p39"/>
          <p:cNvSpPr txBox="1"/>
          <p:nvPr/>
        </p:nvSpPr>
        <p:spPr>
          <a:xfrm>
            <a:off x="9656950" y="5218775"/>
            <a:ext cx="8488200" cy="59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Partnership Programme is Good Nature Agro's most important safety net — pairing it with even one additional input (fungicide or inoculant) for enrolled farmers is the highest-leverage investment to make.</a:t>
            </a:r>
            <a:endParaRPr sz="3800">
              <a:solidFill>
                <a:srgbClr val="293D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2" name="Google Shape;382;p39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0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0"/>
          <p:cNvSpPr txBox="1"/>
          <p:nvPr/>
        </p:nvSpPr>
        <p:spPr>
          <a:xfrm>
            <a:off x="297626" y="396425"/>
            <a:ext cx="17523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6 : The Poor Quality of Soy Bean</a:t>
            </a:r>
            <a:endParaRPr sz="5800"/>
          </a:p>
        </p:txBody>
      </p:sp>
      <p:sp>
        <p:nvSpPr>
          <p:cNvPr id="389" name="Google Shape;389;p40"/>
          <p:cNvSpPr txBox="1"/>
          <p:nvPr/>
        </p:nvSpPr>
        <p:spPr>
          <a:xfrm>
            <a:off x="-419850" y="1906388"/>
            <a:ext cx="7705800" cy="8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1" indent="-4064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Soy Bean accounts for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55.4%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all farmers — yet has the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lowest Grade A rate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any major crop at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57%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well below the 80% benchmark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Sugar Bean is the only crop comfortably above benchmark at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89%</a:t>
            </a: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Navy Bean sits exactly at the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80%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benchmark and might be at risk of falling below the benchmark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0" name="Google Shape;39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8913" y="2284650"/>
            <a:ext cx="10646688" cy="66986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41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396" name="Google Shape;396;p41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1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41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1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400" name="Google Shape;400;p41"/>
          <p:cNvSpPr txBox="1"/>
          <p:nvPr/>
        </p:nvSpPr>
        <p:spPr>
          <a:xfrm>
            <a:off x="9499275" y="4817475"/>
            <a:ext cx="8488200" cy="76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Over half of Good Nature Agro's farmer base is producing below-benchmark quality. Soy Bean is the largest part of the portfolio, yet suffers from the poorest quality. Targeted agronomic support for Soy Bean farmers is the highest-impact quality intervention available.</a:t>
            </a:r>
            <a:endParaRPr sz="3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293D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1" name="Google Shape;401;p41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2"/>
          <p:cNvPicPr preferRelativeResize="0"/>
          <p:nvPr/>
        </p:nvPicPr>
        <p:blipFill rotWithShape="1">
          <a:blip r:embed="rId3">
            <a:alphaModFix/>
          </a:blip>
          <a:srcRect t="12503" b="12495"/>
          <a:stretch/>
        </p:blipFill>
        <p:spPr>
          <a:xfrm>
            <a:off x="0" y="0"/>
            <a:ext cx="18288003" cy="10287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42"/>
          <p:cNvGrpSpPr/>
          <p:nvPr/>
        </p:nvGrpSpPr>
        <p:grpSpPr>
          <a:xfrm>
            <a:off x="1837015" y="6782794"/>
            <a:ext cx="16826323" cy="3266853"/>
            <a:chOff x="0" y="-47625"/>
            <a:chExt cx="4431595" cy="860400"/>
          </a:xfrm>
        </p:grpSpPr>
        <p:sp>
          <p:nvSpPr>
            <p:cNvPr id="408" name="Google Shape;408;p42"/>
            <p:cNvSpPr/>
            <p:nvPr/>
          </p:nvSpPr>
          <p:spPr>
            <a:xfrm>
              <a:off x="0" y="0"/>
              <a:ext cx="4431595" cy="726083"/>
            </a:xfrm>
            <a:custGeom>
              <a:avLst/>
              <a:gdLst/>
              <a:ahLst/>
              <a:cxnLst/>
              <a:rect l="l" t="t" r="r" b="b"/>
              <a:pathLst>
                <a:path w="4431595" h="726083" extrusionOk="0">
                  <a:moveTo>
                    <a:pt x="23466" y="0"/>
                  </a:moveTo>
                  <a:lnTo>
                    <a:pt x="4408129" y="0"/>
                  </a:lnTo>
                  <a:cubicBezTo>
                    <a:pt x="4421089" y="0"/>
                    <a:pt x="4431595" y="10506"/>
                    <a:pt x="4431595" y="23466"/>
                  </a:cubicBezTo>
                  <a:lnTo>
                    <a:pt x="4431595" y="702617"/>
                  </a:lnTo>
                  <a:cubicBezTo>
                    <a:pt x="4431595" y="715577"/>
                    <a:pt x="4421089" y="726083"/>
                    <a:pt x="4408129" y="726083"/>
                  </a:cubicBezTo>
                  <a:lnTo>
                    <a:pt x="23466" y="726083"/>
                  </a:lnTo>
                  <a:cubicBezTo>
                    <a:pt x="10506" y="726083"/>
                    <a:pt x="0" y="715577"/>
                    <a:pt x="0" y="702617"/>
                  </a:cubicBezTo>
                  <a:lnTo>
                    <a:pt x="0" y="23466"/>
                  </a:lnTo>
                  <a:cubicBezTo>
                    <a:pt x="0" y="10506"/>
                    <a:pt x="10506" y="0"/>
                    <a:pt x="23466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2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42"/>
          <p:cNvGrpSpPr/>
          <p:nvPr/>
        </p:nvGrpSpPr>
        <p:grpSpPr>
          <a:xfrm>
            <a:off x="464741" y="6963621"/>
            <a:ext cx="2744553" cy="2756855"/>
            <a:chOff x="1813" y="0"/>
            <a:chExt cx="809173" cy="812800"/>
          </a:xfrm>
        </p:grpSpPr>
        <p:sp>
          <p:nvSpPr>
            <p:cNvPr id="411" name="Google Shape;411;p4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2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 b="0" i="0" u="none" strike="noStrike" cap="none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0</a:t>
              </a:r>
              <a:r>
                <a:rPr lang="en-US" sz="9000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3</a:t>
              </a:r>
              <a:r>
                <a:rPr lang="en-US" sz="9000" b="0" i="0" u="none" strike="noStrike" cap="none">
                  <a:solidFill>
                    <a:srgbClr val="293D2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.</a:t>
              </a:r>
              <a:endParaRPr/>
            </a:p>
          </p:txBody>
        </p:sp>
      </p:grpSp>
      <p:sp>
        <p:nvSpPr>
          <p:cNvPr id="413" name="Google Shape;413;p42"/>
          <p:cNvSpPr txBox="1"/>
          <p:nvPr/>
        </p:nvSpPr>
        <p:spPr>
          <a:xfrm>
            <a:off x="3502000" y="7356800"/>
            <a:ext cx="14786100" cy="23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Risk Identification</a:t>
            </a:r>
            <a:endParaRPr sz="69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 high risk farmers be segmented and flagged early in the season</a:t>
            </a:r>
            <a:endParaRPr sz="4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1192">
            <a:off x="12095866" y="1610833"/>
            <a:ext cx="5017671" cy="458489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3"/>
          <p:cNvSpPr txBox="1"/>
          <p:nvPr/>
        </p:nvSpPr>
        <p:spPr>
          <a:xfrm>
            <a:off x="663174" y="1060325"/>
            <a:ext cx="11328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How Risk Tiers are assigned</a:t>
            </a: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276200" y="2564850"/>
            <a:ext cx="13426200" cy="6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425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farmer gets a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single score</a:t>
            </a:r>
            <a:r>
              <a:rPr lang="en-US" sz="31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31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Expected Yield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— 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that combines both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chance they sell back </a:t>
            </a:r>
            <a:endParaRPr sz="31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 much they'll produce if they sell back</a:t>
            </a:r>
            <a:endParaRPr sz="31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Formula :</a:t>
            </a:r>
            <a:endParaRPr sz="31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Expected Yield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= 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(sells back)  × 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[yield | sells back]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</a:t>
            </a:r>
            <a:r>
              <a:rPr lang="en-US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Stage 1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               </a:t>
            </a:r>
            <a:r>
              <a:rPr lang="en-US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Stage 2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</a:t>
            </a:r>
            <a:r>
              <a:rPr lang="en-US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(classifier) 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</a:t>
            </a:r>
            <a:r>
              <a:rPr lang="en-US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   (regressor)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segment farmers into equal thirds by expected yield — the bottom third flagged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middle third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MEDIUM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top third </a:t>
            </a: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</a:t>
            </a:r>
            <a:r>
              <a:rPr lang="en-US" sz="3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3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rgbClr val="293D2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" name="Google Shape;421;p43"/>
          <p:cNvSpPr txBox="1"/>
          <p:nvPr/>
        </p:nvSpPr>
        <p:spPr>
          <a:xfrm>
            <a:off x="804609" y="5726252"/>
            <a:ext cx="1008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43"/>
          <p:cNvSpPr txBox="1"/>
          <p:nvPr/>
        </p:nvSpPr>
        <p:spPr>
          <a:xfrm>
            <a:off x="804609" y="7493559"/>
            <a:ext cx="924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3" name="Google Shape;42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63061">
            <a:off x="12589920" y="5472767"/>
            <a:ext cx="8188587" cy="748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4"/>
          <p:cNvSpPr txBox="1"/>
          <p:nvPr/>
        </p:nvSpPr>
        <p:spPr>
          <a:xfrm>
            <a:off x="94375" y="396425"/>
            <a:ext cx="179316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Risk Tier Thresholds</a:t>
            </a:r>
            <a:endParaRPr sz="5800"/>
          </a:p>
        </p:txBody>
      </p:sp>
      <p:sp>
        <p:nvSpPr>
          <p:cNvPr id="430" name="Google Shape;430;p44"/>
          <p:cNvSpPr txBox="1"/>
          <p:nvPr/>
        </p:nvSpPr>
        <p:spPr>
          <a:xfrm>
            <a:off x="415975" y="5812025"/>
            <a:ext cx="17610000" cy="5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ato"/>
              <a:buChar char="○"/>
            </a:pPr>
            <a:r>
              <a:rPr lang="en-US" sz="2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Thresholds are set at the </a:t>
            </a:r>
            <a:r>
              <a:rPr lang="en-US" sz="29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33rd and 67th percentiles</a:t>
            </a:r>
            <a:r>
              <a:rPr lang="en-US" sz="2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equal thirds of the farmer population</a:t>
            </a: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ato"/>
              <a:buChar char="○"/>
            </a:pPr>
            <a:r>
              <a:rPr lang="en-US" sz="2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farmer in HIGH tier has only a </a:t>
            </a:r>
            <a:r>
              <a:rPr lang="en-US" sz="29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26%</a:t>
            </a:r>
            <a:r>
              <a:rPr lang="en-US" sz="2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chance of selling back &amp; their expected contribution is nearly zero</a:t>
            </a: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ato"/>
              <a:buChar char="○"/>
            </a:pPr>
            <a:r>
              <a:rPr lang="en-US" sz="2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single score collapses two separate model outputs into one actionable, field-ready label</a:t>
            </a: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1" name="Google Shape;43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75" y="2279838"/>
            <a:ext cx="17737050" cy="26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4"/>
          <p:cNvSpPr txBox="1"/>
          <p:nvPr/>
        </p:nvSpPr>
        <p:spPr>
          <a:xfrm>
            <a:off x="5003425" y="5047175"/>
            <a:ext cx="71145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*(The 83 kg and 216 kg cutoffs emerge directly from the dataset.</a:t>
            </a:r>
            <a:endParaRPr sz="3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/>
          <p:nvPr/>
        </p:nvSpPr>
        <p:spPr>
          <a:xfrm>
            <a:off x="490750" y="604425"/>
            <a:ext cx="172341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Tier Model Accuracy : The Model catches 3 in 4 non-sellers!</a:t>
            </a:r>
            <a:endParaRPr sz="5500"/>
          </a:p>
        </p:txBody>
      </p:sp>
      <p:pic>
        <p:nvPicPr>
          <p:cNvPr id="438" name="Google Shape;438;p4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699582">
            <a:off x="-1830145" y="6197092"/>
            <a:ext cx="5357116" cy="489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3255317">
            <a:off x="13776983" y="3477801"/>
            <a:ext cx="8078131" cy="738139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5"/>
          <p:cNvSpPr txBox="1"/>
          <p:nvPr/>
        </p:nvSpPr>
        <p:spPr>
          <a:xfrm>
            <a:off x="490750" y="7149975"/>
            <a:ext cx="17516100" cy="6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By flagging only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27%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the farmers, the model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catches 74% of non-sellers</a:t>
            </a:r>
            <a:endParaRPr sz="2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random approach would require flagging 74% of farmers to achieve the same catch rate —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2.7× less efficient</a:t>
            </a:r>
            <a:endParaRPr sz="2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can reach 3 out of 4 non-sellers while spending roughly a quarter of the extension costs.</a:t>
            </a:r>
            <a:endParaRPr sz="2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3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5"/>
          <p:cNvSpPr txBox="1"/>
          <p:nvPr/>
        </p:nvSpPr>
        <p:spPr>
          <a:xfrm>
            <a:off x="12364800" y="4501850"/>
            <a:ext cx="41760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2" name="Google Shape;44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26400"/>
            <a:ext cx="7780900" cy="58767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6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448" name="Google Shape;448;p46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6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p46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46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452" name="Google Shape;452;p46"/>
          <p:cNvSpPr txBox="1"/>
          <p:nvPr/>
        </p:nvSpPr>
        <p:spPr>
          <a:xfrm>
            <a:off x="9272750" y="5421500"/>
            <a:ext cx="8488200" cy="61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By leveraging this risk tier model, Good Nature Agro can implement targeted field visits, control loan exposure, and execute early interventions for HIGH risk farmers</a:t>
            </a: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3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293D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3" name="Google Shape;453;p46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4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7"/>
          <p:cNvSpPr txBox="1"/>
          <p:nvPr/>
        </p:nvSpPr>
        <p:spPr>
          <a:xfrm>
            <a:off x="94375" y="396425"/>
            <a:ext cx="179316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7 : 54% of HIGH-Risk Farmers Never Sell Back!</a:t>
            </a:r>
            <a:endParaRPr sz="5800"/>
          </a:p>
        </p:txBody>
      </p:sp>
      <p:sp>
        <p:nvSpPr>
          <p:cNvPr id="460" name="Google Shape;460;p47"/>
          <p:cNvSpPr txBox="1"/>
          <p:nvPr/>
        </p:nvSpPr>
        <p:spPr>
          <a:xfrm>
            <a:off x="255175" y="6106375"/>
            <a:ext cx="17610000" cy="71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Non-seller rate: HIGH = 54.5% | MEDIUM = 11.7% | LOW = 3.9%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— the model cleanly separates farmers who will and won't sell back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Yield follows the same pattern: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HIGH-tier median yield is near zero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</a:t>
            </a: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LOW-tier median is ~550 kg</a:t>
            </a:r>
            <a:endParaRPr sz="2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Char char="○"/>
            </a:pPr>
            <a:r>
              <a:rPr lang="en-US" sz="2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Risk is regionally related</a:t>
            </a:r>
            <a:r>
              <a:rPr lang="en-US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Southern and Mumbwa are almost entirely HIGH risk; Kasenengwa is predominantly LOW risk</a:t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1" name="Google Shape;46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675" y="1714147"/>
            <a:ext cx="4513601" cy="42126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62" name="Google Shape;46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0100" y="1714150"/>
            <a:ext cx="4675603" cy="42126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63" name="Google Shape;46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54526" y="1714150"/>
            <a:ext cx="4988321" cy="42126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48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8"/>
          <p:cNvSpPr txBox="1"/>
          <p:nvPr/>
        </p:nvSpPr>
        <p:spPr>
          <a:xfrm>
            <a:off x="94375" y="396425"/>
            <a:ext cx="179316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8 : The Profile of a High-Risk Farmer</a:t>
            </a:r>
            <a:endParaRPr sz="5800"/>
          </a:p>
        </p:txBody>
      </p:sp>
      <p:sp>
        <p:nvSpPr>
          <p:cNvPr id="470" name="Google Shape;470;p48"/>
          <p:cNvSpPr txBox="1"/>
          <p:nvPr/>
        </p:nvSpPr>
        <p:spPr>
          <a:xfrm>
            <a:off x="420775" y="7775050"/>
            <a:ext cx="17610000" cy="40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Partnership Programme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farmers make up</a:t>
            </a: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51%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HIGH Tier vs just </a:t>
            </a: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2%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LOW Tier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Char char="○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Fungicide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adoption is </a:t>
            </a: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4%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 HIGH Tier vs </a:t>
            </a: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63%</a:t>
            </a:r>
            <a:r>
              <a:rPr lang="en-U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 LOW Tier, suggesting fungicide drives low risk</a:t>
            </a: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1" name="Google Shape;47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975" y="1441250"/>
            <a:ext cx="11867611" cy="58999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49"/>
          <p:cNvGrpSpPr/>
          <p:nvPr/>
        </p:nvGrpSpPr>
        <p:grpSpPr>
          <a:xfrm>
            <a:off x="5230182" y="1543207"/>
            <a:ext cx="13979167" cy="2313165"/>
            <a:chOff x="0" y="-38100"/>
            <a:chExt cx="6136327" cy="1015392"/>
          </a:xfrm>
        </p:grpSpPr>
        <p:sp>
          <p:nvSpPr>
            <p:cNvPr id="477" name="Google Shape;477;p49"/>
            <p:cNvSpPr/>
            <p:nvPr/>
          </p:nvSpPr>
          <p:spPr>
            <a:xfrm>
              <a:off x="0" y="0"/>
              <a:ext cx="6136327" cy="977292"/>
            </a:xfrm>
            <a:custGeom>
              <a:avLst/>
              <a:gdLst/>
              <a:ahLst/>
              <a:cxnLst/>
              <a:rect l="l" t="t" r="r" b="b"/>
              <a:pathLst>
                <a:path w="6136327" h="977292" extrusionOk="0">
                  <a:moveTo>
                    <a:pt x="24922" y="0"/>
                  </a:moveTo>
                  <a:lnTo>
                    <a:pt x="6111405" y="0"/>
                  </a:lnTo>
                  <a:cubicBezTo>
                    <a:pt x="6125169" y="0"/>
                    <a:pt x="6136327" y="11158"/>
                    <a:pt x="6136327" y="24922"/>
                  </a:cubicBezTo>
                  <a:lnTo>
                    <a:pt x="6136327" y="952370"/>
                  </a:lnTo>
                  <a:cubicBezTo>
                    <a:pt x="6136327" y="966134"/>
                    <a:pt x="6125169" y="977292"/>
                    <a:pt x="6111405" y="977292"/>
                  </a:cubicBezTo>
                  <a:lnTo>
                    <a:pt x="24922" y="977292"/>
                  </a:lnTo>
                  <a:cubicBezTo>
                    <a:pt x="11158" y="977292"/>
                    <a:pt x="0" y="966134"/>
                    <a:pt x="0" y="952370"/>
                  </a:cubicBezTo>
                  <a:lnTo>
                    <a:pt x="0" y="24922"/>
                  </a:lnTo>
                  <a:cubicBezTo>
                    <a:pt x="0" y="11158"/>
                    <a:pt x="11158" y="0"/>
                    <a:pt x="24922" y="0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" name="Google Shape;479;p49"/>
          <p:cNvSpPr/>
          <p:nvPr/>
        </p:nvSpPr>
        <p:spPr>
          <a:xfrm>
            <a:off x="0" y="2743200"/>
            <a:ext cx="9144000" cy="13716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01" r="-6249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9"/>
          <p:cNvSpPr txBox="1"/>
          <p:nvPr/>
        </p:nvSpPr>
        <p:spPr>
          <a:xfrm>
            <a:off x="5531000" y="2057400"/>
            <a:ext cx="1242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EDECEC"/>
                </a:solidFill>
                <a:latin typeface="Francois One"/>
                <a:ea typeface="Francois One"/>
                <a:cs typeface="Francois One"/>
                <a:sym typeface="Francois One"/>
              </a:rPr>
              <a:t>Business Insight</a:t>
            </a:r>
            <a:endParaRPr/>
          </a:p>
        </p:txBody>
      </p:sp>
      <p:sp>
        <p:nvSpPr>
          <p:cNvPr id="481" name="Google Shape;481;p49"/>
          <p:cNvSpPr txBox="1"/>
          <p:nvPr/>
        </p:nvSpPr>
        <p:spPr>
          <a:xfrm>
            <a:off x="9593650" y="5610250"/>
            <a:ext cx="8488200" cy="58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Fungicide must be made the priority intervention for HIGH-risk farmers and, the support for Partnership Programme farmers needs to be redesigned</a:t>
            </a:r>
            <a:endParaRPr sz="3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3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293D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2" name="Google Shape;482;p49"/>
          <p:cNvPicPr preferRelativeResize="0"/>
          <p:nvPr/>
        </p:nvPicPr>
        <p:blipFill rotWithShape="1">
          <a:blip r:embed="rId4">
            <a:alphaModFix amt="15000"/>
          </a:blip>
          <a:srcRect/>
          <a:stretch/>
        </p:blipFill>
        <p:spPr>
          <a:xfrm>
            <a:off x="12768796" y="7991107"/>
            <a:ext cx="1949149" cy="17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0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576450">
            <a:off x="-1601195" y="4271823"/>
            <a:ext cx="9106919" cy="8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0"/>
          <p:cNvSpPr txBox="1"/>
          <p:nvPr/>
        </p:nvSpPr>
        <p:spPr>
          <a:xfrm>
            <a:off x="94375" y="396425"/>
            <a:ext cx="179316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Insight 9 : Risks must be flagged before the season starts</a:t>
            </a:r>
            <a:endParaRPr sz="5800"/>
          </a:p>
        </p:txBody>
      </p:sp>
      <p:sp>
        <p:nvSpPr>
          <p:cNvPr id="489" name="Google Shape;489;p50"/>
          <p:cNvSpPr txBox="1"/>
          <p:nvPr/>
        </p:nvSpPr>
        <p:spPr>
          <a:xfrm>
            <a:off x="415975" y="6963400"/>
            <a:ext cx="15954300" cy="54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AUC 0.871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using only loan registration data — before a seed is planted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Full model (+ planting survey) reaches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AUC 0.880</a:t>
            </a: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(+0.009 lift)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Risk can be flagged at the moment of loan approval, months before season begins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Enables proactive support, not reactive damage control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0" name="Google Shape;490;p50" title="08_early_season_valid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1925" y="1383600"/>
            <a:ext cx="10990050" cy="62145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51"/>
          <p:cNvPicPr preferRelativeResize="0"/>
          <p:nvPr/>
        </p:nvPicPr>
        <p:blipFill rotWithShape="1">
          <a:blip r:embed="rId3">
            <a:alphaModFix/>
          </a:blip>
          <a:srcRect l="13333" r="10214" b="23995"/>
          <a:stretch/>
        </p:blipFill>
        <p:spPr>
          <a:xfrm>
            <a:off x="0" y="0"/>
            <a:ext cx="18288003" cy="10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1"/>
          <p:cNvSpPr txBox="1"/>
          <p:nvPr/>
        </p:nvSpPr>
        <p:spPr>
          <a:xfrm>
            <a:off x="2106593" y="1271888"/>
            <a:ext cx="140748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5254</a:t>
            </a:r>
            <a:endParaRPr sz="25000"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rgbClr val="3364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51"/>
          <p:cNvSpPr txBox="1"/>
          <p:nvPr/>
        </p:nvSpPr>
        <p:spPr>
          <a:xfrm>
            <a:off x="2741618" y="5218182"/>
            <a:ext cx="12804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1"/>
          <p:cNvSpPr txBox="1"/>
          <p:nvPr/>
        </p:nvSpPr>
        <p:spPr>
          <a:xfrm>
            <a:off x="3490350" y="5062050"/>
            <a:ext cx="11307300" cy="9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000" b="1" dirty="0">
                <a:solidFill>
                  <a:srgbClr val="336430"/>
                </a:solidFill>
                <a:latin typeface="Lato"/>
                <a:ea typeface="Lato"/>
                <a:cs typeface="Lato"/>
                <a:sym typeface="Lato"/>
              </a:rPr>
              <a:t>FARMERS CAN BE RECOVERED!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52"/>
          <p:cNvPicPr preferRelativeResize="0"/>
          <p:nvPr/>
        </p:nvPicPr>
        <p:blipFill rotWithShape="1">
          <a:blip r:embed="rId3">
            <a:alphaModFix amt="19999"/>
          </a:blip>
          <a:srcRect/>
          <a:stretch/>
        </p:blipFill>
        <p:spPr>
          <a:xfrm>
            <a:off x="-1958665" y="4056565"/>
            <a:ext cx="9006402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2"/>
          <p:cNvSpPr/>
          <p:nvPr/>
        </p:nvSpPr>
        <p:spPr>
          <a:xfrm>
            <a:off x="11430000" y="0"/>
            <a:ext cx="7064375" cy="10287000"/>
          </a:xfrm>
          <a:custGeom>
            <a:avLst/>
            <a:gdLst/>
            <a:ahLst/>
            <a:cxnLst/>
            <a:rect l="l" t="t" r="r" b="b"/>
            <a:pathLst>
              <a:path w="6350000" h="9525000" extrusionOk="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2461" r="-6246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52"/>
          <p:cNvSpPr txBox="1"/>
          <p:nvPr/>
        </p:nvSpPr>
        <p:spPr>
          <a:xfrm>
            <a:off x="535250" y="2498025"/>
            <a:ext cx="10281600" cy="87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82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rancois One"/>
              <a:buAutoNum type="arabicPeriod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Make fungicide the default in every Soy Bean package</a:t>
            </a:r>
            <a:b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45% of Soy Bean farmers — Good Nature Agro's largest crop have no fungicide. Those with fungicide yield 464 kg vs 160 kg without, a 189% difference. This is the single highest-return input decision available.</a:t>
            </a:r>
            <a:endParaRPr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82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AutoNum type="arabicPeriod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Deploy the risk model at loan registration</a:t>
            </a:r>
            <a:b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model flags 27% of farmers and catches 74% of non-sellers using only data that exists before a seed is planted. Apply HIGH-risk flags to trigger field visits, reduced loan exposure, and targeted early support.</a:t>
            </a:r>
            <a:endParaRPr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82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AutoNum type="arabicPeriod"/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Invest disproportionately in Season 1 farmer retention</a:t>
            </a:r>
            <a:b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Season 1 is where Good Nature Agro loses the most farmers (27.7% dropout). Farmers who survive it drop to 9.6% by Season 2 and 1.3% by Season 6+. Every Season 1 farmer retained is a long-term asset. This is the intervention with the highest lifetime return.</a:t>
            </a:r>
            <a:endParaRPr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0">
              <a:solidFill>
                <a:srgbClr val="336430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506" name="Google Shape;506;p52"/>
          <p:cNvSpPr txBox="1"/>
          <p:nvPr/>
        </p:nvSpPr>
        <p:spPr>
          <a:xfrm>
            <a:off x="190825" y="503075"/>
            <a:ext cx="10894200" cy="20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Actionable Recommendations</a:t>
            </a:r>
            <a:endParaRPr sz="6900">
              <a:solidFill>
                <a:srgbClr val="293D2F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C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4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 rot="-337321" flipH="1">
            <a:off x="10826618" y="5161736"/>
            <a:ext cx="9246307" cy="8448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4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 flipH="1">
            <a:off x="-4848420" y="1074542"/>
            <a:ext cx="11164293" cy="10201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54"/>
          <p:cNvGrpSpPr/>
          <p:nvPr/>
        </p:nvGrpSpPr>
        <p:grpSpPr>
          <a:xfrm>
            <a:off x="576068" y="3852058"/>
            <a:ext cx="16752918" cy="1503494"/>
            <a:chOff x="-2823" y="-92"/>
            <a:chExt cx="1275645" cy="114483"/>
          </a:xfrm>
        </p:grpSpPr>
        <p:sp>
          <p:nvSpPr>
            <p:cNvPr id="522" name="Google Shape;522;p54"/>
            <p:cNvSpPr/>
            <p:nvPr/>
          </p:nvSpPr>
          <p:spPr>
            <a:xfrm>
              <a:off x="-2823" y="-92"/>
              <a:ext cx="1275645" cy="114483"/>
            </a:xfrm>
            <a:custGeom>
              <a:avLst/>
              <a:gdLst/>
              <a:ahLst/>
              <a:cxnLst/>
              <a:rect l="l" t="t" r="r" b="b"/>
              <a:pathLst>
                <a:path w="1275645" h="114483" extrusionOk="0">
                  <a:moveTo>
                    <a:pt x="59973" y="92"/>
                  </a:moveTo>
                  <a:lnTo>
                    <a:pt x="1215673" y="92"/>
                  </a:lnTo>
                  <a:cubicBezTo>
                    <a:pt x="1236152" y="0"/>
                    <a:pt x="1255114" y="10873"/>
                    <a:pt x="1265380" y="28593"/>
                  </a:cubicBezTo>
                  <a:cubicBezTo>
                    <a:pt x="1275646" y="46313"/>
                    <a:pt x="1275646" y="68171"/>
                    <a:pt x="1265380" y="85891"/>
                  </a:cubicBezTo>
                  <a:cubicBezTo>
                    <a:pt x="1255114" y="103611"/>
                    <a:pt x="1236152" y="114484"/>
                    <a:pt x="1215673" y="114392"/>
                  </a:cubicBezTo>
                  <a:lnTo>
                    <a:pt x="59973" y="114392"/>
                  </a:lnTo>
                  <a:cubicBezTo>
                    <a:pt x="39494" y="114484"/>
                    <a:pt x="20532" y="103611"/>
                    <a:pt x="10266" y="85891"/>
                  </a:cubicBezTo>
                  <a:cubicBezTo>
                    <a:pt x="0" y="68171"/>
                    <a:pt x="0" y="46313"/>
                    <a:pt x="10266" y="28593"/>
                  </a:cubicBezTo>
                  <a:cubicBezTo>
                    <a:pt x="20532" y="10873"/>
                    <a:pt x="39494" y="0"/>
                    <a:pt x="59973" y="92"/>
                  </a:cubicBezTo>
                  <a:close/>
                </a:path>
              </a:pathLst>
            </a:custGeom>
            <a:solidFill>
              <a:srgbClr val="3364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4"/>
            <p:cNvSpPr/>
            <p:nvPr/>
          </p:nvSpPr>
          <p:spPr>
            <a:xfrm>
              <a:off x="-2823" y="-92"/>
              <a:ext cx="907345" cy="114483"/>
            </a:xfrm>
            <a:custGeom>
              <a:avLst/>
              <a:gdLst/>
              <a:ahLst/>
              <a:cxnLst/>
              <a:rect l="l" t="t" r="r" b="b"/>
              <a:pathLst>
                <a:path w="907345" h="114483" extrusionOk="0">
                  <a:moveTo>
                    <a:pt x="59973" y="92"/>
                  </a:moveTo>
                  <a:lnTo>
                    <a:pt x="847373" y="92"/>
                  </a:lnTo>
                  <a:cubicBezTo>
                    <a:pt x="867852" y="0"/>
                    <a:pt x="886814" y="10873"/>
                    <a:pt x="897080" y="28593"/>
                  </a:cubicBezTo>
                  <a:cubicBezTo>
                    <a:pt x="907346" y="46313"/>
                    <a:pt x="907346" y="68171"/>
                    <a:pt x="897080" y="85891"/>
                  </a:cubicBezTo>
                  <a:cubicBezTo>
                    <a:pt x="886814" y="103611"/>
                    <a:pt x="867852" y="114484"/>
                    <a:pt x="847373" y="114392"/>
                  </a:cubicBezTo>
                  <a:lnTo>
                    <a:pt x="59973" y="114392"/>
                  </a:lnTo>
                  <a:cubicBezTo>
                    <a:pt x="39494" y="114484"/>
                    <a:pt x="20532" y="103611"/>
                    <a:pt x="10266" y="85891"/>
                  </a:cubicBezTo>
                  <a:cubicBezTo>
                    <a:pt x="0" y="68171"/>
                    <a:pt x="0" y="46313"/>
                    <a:pt x="10266" y="28593"/>
                  </a:cubicBezTo>
                  <a:cubicBezTo>
                    <a:pt x="20532" y="10873"/>
                    <a:pt x="39494" y="0"/>
                    <a:pt x="59973" y="92"/>
                  </a:cubicBezTo>
                  <a:close/>
                </a:path>
              </a:pathLst>
            </a:custGeom>
            <a:solidFill>
              <a:srgbClr val="9ED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24" name="Google Shape;524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5284" y="3262392"/>
            <a:ext cx="1430473" cy="188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10531466" y="2352062"/>
            <a:ext cx="2782375" cy="279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2323" y="3192419"/>
            <a:ext cx="2485406" cy="195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357579" y="1910394"/>
            <a:ext cx="1670023" cy="32341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8" name="Google Shape;528;p54"/>
          <p:cNvGrpSpPr/>
          <p:nvPr/>
        </p:nvGrpSpPr>
        <p:grpSpPr>
          <a:xfrm>
            <a:off x="1156937" y="3994739"/>
            <a:ext cx="1388557" cy="1336591"/>
            <a:chOff x="-112435" y="-191897"/>
            <a:chExt cx="1851410" cy="1782122"/>
          </a:xfrm>
        </p:grpSpPr>
        <p:grpSp>
          <p:nvGrpSpPr>
            <p:cNvPr id="529" name="Google Shape;529;p54"/>
            <p:cNvGrpSpPr/>
            <p:nvPr/>
          </p:nvGrpSpPr>
          <p:grpSpPr>
            <a:xfrm rot="-942667">
              <a:off x="932562" y="714300"/>
              <a:ext cx="712167" cy="794340"/>
              <a:chOff x="76200" y="0"/>
              <a:chExt cx="660400" cy="736600"/>
            </a:xfrm>
          </p:grpSpPr>
          <p:sp>
            <p:nvSpPr>
              <p:cNvPr id="530" name="Google Shape;530;p54"/>
              <p:cNvSpPr/>
              <p:nvPr/>
            </p:nvSpPr>
            <p:spPr>
              <a:xfrm>
                <a:off x="317685" y="0"/>
                <a:ext cx="129606" cy="385444"/>
              </a:xfrm>
              <a:custGeom>
                <a:avLst/>
                <a:gdLst/>
                <a:ahLst/>
                <a:cxnLst/>
                <a:rect l="l" t="t" r="r" b="b"/>
                <a:pathLst>
                  <a:path w="129606" h="385444" extrusionOk="0">
                    <a:moveTo>
                      <a:pt x="64803" y="0"/>
                    </a:moveTo>
                    <a:lnTo>
                      <a:pt x="64803" y="0"/>
                    </a:lnTo>
                    <a:cubicBezTo>
                      <a:pt x="129606" y="120310"/>
                      <a:pt x="129606" y="265134"/>
                      <a:pt x="64803" y="385444"/>
                    </a:cubicBezTo>
                    <a:cubicBezTo>
                      <a:pt x="0" y="265134"/>
                      <a:pt x="0" y="120310"/>
                      <a:pt x="6480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293D2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5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54"/>
            <p:cNvGrpSpPr/>
            <p:nvPr/>
          </p:nvGrpSpPr>
          <p:grpSpPr>
            <a:xfrm rot="-8203289">
              <a:off x="62999" y="-55803"/>
              <a:ext cx="712168" cy="794340"/>
              <a:chOff x="76200" y="0"/>
              <a:chExt cx="660400" cy="736600"/>
            </a:xfrm>
          </p:grpSpPr>
          <p:sp>
            <p:nvSpPr>
              <p:cNvPr id="533" name="Google Shape;533;p54"/>
              <p:cNvSpPr/>
              <p:nvPr/>
            </p:nvSpPr>
            <p:spPr>
              <a:xfrm>
                <a:off x="237470" y="0"/>
                <a:ext cx="118448" cy="369487"/>
              </a:xfrm>
              <a:custGeom>
                <a:avLst/>
                <a:gdLst/>
                <a:ahLst/>
                <a:cxnLst/>
                <a:rect l="l" t="t" r="r" b="b"/>
                <a:pathLst>
                  <a:path w="118448" h="369487" extrusionOk="0">
                    <a:moveTo>
                      <a:pt x="59225" y="0"/>
                    </a:moveTo>
                    <a:lnTo>
                      <a:pt x="59225" y="0"/>
                    </a:lnTo>
                    <a:cubicBezTo>
                      <a:pt x="118449" y="116043"/>
                      <a:pt x="118449" y="253444"/>
                      <a:pt x="59225" y="369487"/>
                    </a:cubicBezTo>
                    <a:cubicBezTo>
                      <a:pt x="0" y="253444"/>
                      <a:pt x="0" y="116043"/>
                      <a:pt x="592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293D2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5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" name="Google Shape;535;p54"/>
            <p:cNvGrpSpPr/>
            <p:nvPr/>
          </p:nvGrpSpPr>
          <p:grpSpPr>
            <a:xfrm rot="-2700000">
              <a:off x="906947" y="138520"/>
              <a:ext cx="509644" cy="568449"/>
              <a:chOff x="76200" y="0"/>
              <a:chExt cx="660400" cy="736600"/>
            </a:xfrm>
          </p:grpSpPr>
          <p:sp>
            <p:nvSpPr>
              <p:cNvPr id="536" name="Google Shape;536;p54"/>
              <p:cNvSpPr/>
              <p:nvPr/>
            </p:nvSpPr>
            <p:spPr>
              <a:xfrm>
                <a:off x="335665" y="0"/>
                <a:ext cx="141470" cy="401525"/>
              </a:xfrm>
              <a:custGeom>
                <a:avLst/>
                <a:gdLst/>
                <a:ahLst/>
                <a:cxnLst/>
                <a:rect l="l" t="t" r="r" b="b"/>
                <a:pathLst>
                  <a:path w="141470" h="401525" extrusionOk="0">
                    <a:moveTo>
                      <a:pt x="70735" y="0"/>
                    </a:moveTo>
                    <a:cubicBezTo>
                      <a:pt x="141470" y="124496"/>
                      <a:pt x="141470" y="277029"/>
                      <a:pt x="70735" y="401525"/>
                    </a:cubicBezTo>
                    <a:cubicBezTo>
                      <a:pt x="0" y="277029"/>
                      <a:pt x="0" y="124496"/>
                      <a:pt x="7073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flat" cmpd="sng">
                <a:solidFill>
                  <a:srgbClr val="293D2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5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8" name="Google Shape;538;p54"/>
          <p:cNvSpPr txBox="1"/>
          <p:nvPr/>
        </p:nvSpPr>
        <p:spPr>
          <a:xfrm>
            <a:off x="733727" y="399900"/>
            <a:ext cx="16752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293D2F"/>
                </a:solidFill>
                <a:latin typeface="Francois One"/>
                <a:ea typeface="Francois One"/>
                <a:cs typeface="Francois One"/>
                <a:sym typeface="Francois One"/>
              </a:rPr>
              <a:t>Conclusion</a:t>
            </a:r>
            <a:endParaRPr/>
          </a:p>
        </p:txBody>
      </p:sp>
      <p:sp>
        <p:nvSpPr>
          <p:cNvPr id="539" name="Google Shape;539;p54"/>
          <p:cNvSpPr txBox="1"/>
          <p:nvPr/>
        </p:nvSpPr>
        <p:spPr>
          <a:xfrm>
            <a:off x="353050" y="5711350"/>
            <a:ext cx="5072100" cy="82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99" b="1" dirty="0">
              <a:solidFill>
                <a:srgbClr val="3364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0" name="Google Shape;540;p54"/>
          <p:cNvSpPr txBox="1"/>
          <p:nvPr/>
        </p:nvSpPr>
        <p:spPr>
          <a:xfrm>
            <a:off x="3921400" y="6896239"/>
            <a:ext cx="213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54"/>
          <p:cNvSpPr txBox="1"/>
          <p:nvPr/>
        </p:nvSpPr>
        <p:spPr>
          <a:xfrm>
            <a:off x="7253004" y="6896239"/>
            <a:ext cx="219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54"/>
          <p:cNvSpPr txBox="1"/>
          <p:nvPr/>
        </p:nvSpPr>
        <p:spPr>
          <a:xfrm>
            <a:off x="10694942" y="6896681"/>
            <a:ext cx="198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54"/>
          <p:cNvSpPr txBox="1"/>
          <p:nvPr/>
        </p:nvSpPr>
        <p:spPr>
          <a:xfrm>
            <a:off x="14155970" y="6896239"/>
            <a:ext cx="2111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54"/>
          <p:cNvSpPr txBox="1"/>
          <p:nvPr/>
        </p:nvSpPr>
        <p:spPr>
          <a:xfrm>
            <a:off x="855182" y="7820606"/>
            <a:ext cx="208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54"/>
          <p:cNvSpPr txBox="1"/>
          <p:nvPr/>
        </p:nvSpPr>
        <p:spPr>
          <a:xfrm>
            <a:off x="3720153" y="6896252"/>
            <a:ext cx="208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54"/>
          <p:cNvSpPr txBox="1"/>
          <p:nvPr/>
        </p:nvSpPr>
        <p:spPr>
          <a:xfrm>
            <a:off x="7253004" y="7820164"/>
            <a:ext cx="208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4"/>
          <p:cNvSpPr txBox="1"/>
          <p:nvPr/>
        </p:nvSpPr>
        <p:spPr>
          <a:xfrm>
            <a:off x="10646406" y="7820606"/>
            <a:ext cx="208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54"/>
          <p:cNvSpPr txBox="1"/>
          <p:nvPr/>
        </p:nvSpPr>
        <p:spPr>
          <a:xfrm>
            <a:off x="14181800" y="7820606"/>
            <a:ext cx="208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4"/>
          <p:cNvSpPr txBox="1"/>
          <p:nvPr/>
        </p:nvSpPr>
        <p:spPr>
          <a:xfrm>
            <a:off x="1738126" y="5785232"/>
            <a:ext cx="5072100" cy="24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Our model built entirely from existing data can identify 3 in 4 at-risk farmers before a seed is planted.</a:t>
            </a:r>
            <a:endParaRPr sz="29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" name="Google Shape;550;p54"/>
          <p:cNvSpPr txBox="1"/>
          <p:nvPr/>
        </p:nvSpPr>
        <p:spPr>
          <a:xfrm>
            <a:off x="10393585" y="5804229"/>
            <a:ext cx="4974900" cy="335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5 recommendations do not require new data collection, new infrastructure, or new </a:t>
            </a:r>
            <a:r>
              <a:rPr lang="en-US" sz="29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programmes</a:t>
            </a:r>
            <a:r>
              <a:rPr lang="en-US" sz="29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They require applying our models!</a:t>
            </a:r>
            <a:endParaRPr sz="29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99" b="1" dirty="0">
              <a:solidFill>
                <a:srgbClr val="3364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1" name="Google Shape;551;p54"/>
          <p:cNvSpPr txBox="1"/>
          <p:nvPr/>
        </p:nvSpPr>
        <p:spPr>
          <a:xfrm>
            <a:off x="5865550" y="1226625"/>
            <a:ext cx="12467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2216</Words>
  <Application>Microsoft Macintosh PowerPoint</Application>
  <PresentationFormat>Custom</PresentationFormat>
  <Paragraphs>286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Lato</vt:lpstr>
      <vt:lpstr>Arial</vt:lpstr>
      <vt:lpstr>Calibri</vt:lpstr>
      <vt:lpstr>Francois One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Tanish Jagadheshan</cp:lastModifiedBy>
  <cp:revision>2</cp:revision>
  <dcterms:modified xsi:type="dcterms:W3CDTF">2026-05-11T02:52:53Z</dcterms:modified>
</cp:coreProperties>
</file>